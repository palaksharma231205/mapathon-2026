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pathon One-Pager" id="{a94128c2-d87a-be02-8f17-098c245e66a7}">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GUIDE: Every block is a separate, named shape (see Selection Pane). 1) Replace the dashed [MAP] frame with your exported map image: Insert &gt; Picture, size to the Map - Frame rectangle, then Send to Back above the frame. 2) Delete the placeholder boundary, pins, road, water and legend items that your map does not need, or restyle them to match your data. 3) Edit the four right-hand cards, six workflow stages, result box and footer. Delete any module you do not need and the rest can be re-spaced. 4) Colors come from the theme (Design &gt; Variants &gt; Colors), so one change restyles the whole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PATHON_ONE_PAGER">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457200" y="228600"/>
            <a:ext cx="8412480" cy="5486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r>
              <a:rPr lang="en-US" sz="3200" b="1" dirty="0">
                <a:solidFill>
                  <a:schemeClr val="bg1"/>
                </a:solidFill>
              </a:rPr>
              <a:t>[PROBLEM / PROJECT TITLE]</a:t>
            </a:r>
            <a:endParaRPr lang="en-US" sz="3200" dirty="0"/>
          </a:p>
        </p:txBody>
      </p:sp>
      <p:sp>
        <p:nvSpPr>
          <p:cNvPr id="4" name="Text 1"/>
          <p:cNvSpPr/>
          <p:nvPr>
            <p:ph idx="102" type="body" hasCustomPrompt="1"/>
          </p:nvPr>
        </p:nvSpPr>
        <p:spPr>
          <a:xfrm>
            <a:off x="457200" y="777240"/>
            <a:ext cx="8412480" cy="274320"/>
          </a:xfrm>
          <a:prstGeom prst="rect">
            <a:avLst/>
          </a:prstGeom>
          <a:noFill/>
          <a:ln/>
        </p:spPr>
        <p:txBody>
          <a:bodyPr wrap="square" rtlCol="0"/>
          <a:lstStyle>
            <a:lvl1pPr algn="l" indent="0" marL="0">
              <a:buNone/>
              <a:defRPr lang="en-US" sz="1300" dirty="0">
                <a:solidFill>
                  <a:schemeClr val="bg2"/>
                </a:solidFill>
              </a:defRPr>
            </a:lvl1pPr>
          </a:lstStyle>
          <a:p>
            <a:pPr algn="l" indent="0" marL="0">
              <a:buNone/>
            </a:pPr>
            <a:r>
              <a:rPr lang="en-US" sz="1300" dirty="0">
                <a:solidFill>
                  <a:schemeClr val="bg2"/>
                </a:solidFill>
              </a:rPr>
              <a:t>[LOCATION] | [DATA SOURCES] | [TEAM NAME]</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111" name="Rectangle 110"/>
          <p:cNvSpPr/>
          <p:nvPr/>
        </p:nvSpPr>
        <p:spPr>
          <a:xfrm>
            <a:off x="0" y="0"/>
            <a:ext cx="12192000" cy="54864"/>
          </a:xfrm>
          <a:prstGeom prst="rect">
            <a:avLst/>
          </a:prstGeom>
          <a:solidFill>
            <a:srgbClr val="2D70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1"/>
          <p:cNvSpPr/>
          <p:nvPr>
            <p:ph idx="101" type="title" hasCustomPrompt="1"/>
          </p:nvPr>
        </p:nvSpPr>
        <p:spPr>
          <a:xfrm>
            <a:off x="457200" y="228600"/>
            <a:ext cx="8412480" cy="548640"/>
          </a:xfrm>
          <a:prstGeom prst="rect">
            <a:avLst/>
          </a:prstGeom>
          <a:noFill/>
          <a:ln/>
        </p:spPr>
        <p:txBody>
          <a:bodyPr wrap="square" lIns="27432" tIns="18288" rIns="27432" bIns="18288" rtlCol="0" anchor="ctr"/>
          <a:lstStyle/>
          <a:p>
            <a:pPr algn="l" indent="0" marL="0">
              <a:spcBef>
                <a:spcPts val="0"/>
              </a:spcBef>
              <a:spcAft>
                <a:spcPts val="100"/>
              </a:spcAft>
              <a:buNone/>
            </a:pPr>
            <a:r>
              <a:rPr lang="en-US" sz="2200" b="1" dirty="0">
                <a:solidFill>
                  <a:srgbClr val="192D41"/>
                </a:solidFill>
                <a:latin typeface="Aptos"/>
              </a:rPr>
              <a:t>[PROBLEM / PROJECT TITLE]</a:t>
            </a:r>
            <a:endParaRPr lang="en-US" sz="3200" dirty="0"/>
          </a:p>
        </p:txBody>
      </p:sp>
      <p:sp>
        <p:nvSpPr>
          <p:cNvPr id="3" name="Text 1"/>
          <p:cNvSpPr/>
          <p:nvPr>
            <p:ph idx="102" type="body" hasCustomPrompt="1"/>
          </p:nvPr>
        </p:nvSpPr>
        <p:spPr>
          <a:xfrm>
            <a:off x="457200" y="777240"/>
            <a:ext cx="8412480" cy="274320"/>
          </a:xfrm>
          <a:prstGeom prst="rect">
            <a:avLst/>
          </a:prstGeom>
          <a:noFill/>
          <a:ln/>
        </p:spPr>
        <p:txBody>
          <a:bodyPr wrap="square" lIns="27432" tIns="18288" rIns="27432" bIns="18288" rtlCol="0" anchor="ctr"/>
          <a:lstStyle/>
          <a:p>
            <a:pPr algn="l" indent="0" marL="0">
              <a:spcBef>
                <a:spcPts val="0"/>
              </a:spcBef>
              <a:spcAft>
                <a:spcPts val="100"/>
              </a:spcAft>
              <a:buNone/>
            </a:pPr>
            <a:r>
              <a:rPr lang="en-US" sz="900" dirty="0" b="0">
                <a:solidFill>
                  <a:srgbClr val="697480"/>
                </a:solidFill>
                <a:latin typeface="Aptos"/>
              </a:rPr>
              <a:t>[LOCATION] | [DATA SOURCES] | [TEAM NAME]</a:t>
            </a:r>
            <a:endParaRPr lang="en-US" sz="1300" dirty="0"/>
          </a:p>
        </p:txBody>
      </p:sp>
      <p:sp>
        <p:nvSpPr>
          <p:cNvPr id="4" name="Header - Event Tag"/>
          <p:cNvSpPr txBox="1"/>
          <p:nvPr/>
        </p:nvSpPr>
        <p:spPr>
          <a:xfrm>
            <a:off x="9006840" y="384048"/>
            <a:ext cx="2724912" cy="310896"/>
          </a:xfrm>
          <a:prstGeom prst="roundRect">
            <a:avLst>
              <a:gd name="adj" fmla="val 29412"/>
            </a:avLst>
          </a:prstGeom>
          <a:solidFill>
            <a:schemeClr val="tx2"/>
          </a:solidFill>
          <a:ln w="12700">
            <a:solidFill>
              <a:schemeClr val="accent1"/>
            </a:solidFill>
          </a:ln>
        </p:spPr>
        <p:txBody>
          <a:bodyPr wrap="square" lIns="27432" tIns="18288" rIns="27432" bIns="18288" rtlCol="0" anchor="ctr"/>
          <a:lstStyle/>
          <a:p>
            <a:pPr algn="l" indent="0" marL="0">
              <a:spcBef>
                <a:spcPts val="0"/>
              </a:spcBef>
              <a:spcAft>
                <a:spcPts val="100"/>
              </a:spcAft>
              <a:buNone/>
            </a:pPr>
            <a:r>
              <a:rPr lang="en-US" sz="800" b="1" dirty="0">
                <a:solidFill>
                  <a:srgbClr val="2D7091"/>
                </a:solidFill>
                <a:latin typeface="Aptos"/>
              </a:rPr>
              <a:t>GIS + AI/ML MAPATHON  ·  [YEAR]</a:t>
            </a:r>
            <a:endParaRPr lang="en-US" sz="1000" dirty="0"/>
          </a:p>
        </p:txBody>
      </p:sp>
      <p:sp>
        <p:nvSpPr>
          <p:cNvPr id="5" name="Map - Frame (replace with exported map image)"/>
          <p:cNvSpPr/>
          <p:nvPr/>
        </p:nvSpPr>
        <p:spPr>
          <a:xfrm>
            <a:off x="457200" y="1188720"/>
            <a:ext cx="7589520" cy="3611880"/>
          </a:xfrm>
          <a:prstGeom prst="rect">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6" name="Map - Graticule V1"/>
          <p:cNvSpPr/>
          <p:nvPr/>
        </p:nvSpPr>
        <p:spPr>
          <a:xfrm>
            <a:off x="1405890" y="1188720"/>
            <a:ext cx="0" cy="361188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7" name="Map - Graticule V2"/>
          <p:cNvSpPr/>
          <p:nvPr/>
        </p:nvSpPr>
        <p:spPr>
          <a:xfrm>
            <a:off x="2354580" y="1188720"/>
            <a:ext cx="0" cy="361188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8" name="Map - Graticule V3"/>
          <p:cNvSpPr/>
          <p:nvPr/>
        </p:nvSpPr>
        <p:spPr>
          <a:xfrm>
            <a:off x="3303270" y="1188720"/>
            <a:ext cx="0" cy="361188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9" name="Map - Graticule V4"/>
          <p:cNvSpPr/>
          <p:nvPr/>
        </p:nvSpPr>
        <p:spPr>
          <a:xfrm>
            <a:off x="4251960" y="1188720"/>
            <a:ext cx="0" cy="361188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10" name="Map - Graticule V5"/>
          <p:cNvSpPr/>
          <p:nvPr/>
        </p:nvSpPr>
        <p:spPr>
          <a:xfrm>
            <a:off x="5200650" y="1188720"/>
            <a:ext cx="0" cy="361188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11" name="Map - Graticule V6"/>
          <p:cNvSpPr/>
          <p:nvPr/>
        </p:nvSpPr>
        <p:spPr>
          <a:xfrm>
            <a:off x="6149340" y="1188720"/>
            <a:ext cx="0" cy="361188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12" name="Map - Graticule V7"/>
          <p:cNvSpPr/>
          <p:nvPr/>
        </p:nvSpPr>
        <p:spPr>
          <a:xfrm>
            <a:off x="7098030" y="1188720"/>
            <a:ext cx="0" cy="361188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13" name="Map - Graticule H1"/>
          <p:cNvSpPr/>
          <p:nvPr/>
        </p:nvSpPr>
        <p:spPr>
          <a:xfrm>
            <a:off x="457200" y="2091690"/>
            <a:ext cx="7589520" cy="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14" name="Map - Graticule H2"/>
          <p:cNvSpPr/>
          <p:nvPr/>
        </p:nvSpPr>
        <p:spPr>
          <a:xfrm>
            <a:off x="457200" y="2994660"/>
            <a:ext cx="7589520" cy="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15" name="Map - Graticule H3"/>
          <p:cNvSpPr/>
          <p:nvPr/>
        </p:nvSpPr>
        <p:spPr>
          <a:xfrm>
            <a:off x="457200" y="3897630"/>
            <a:ext cx="7589520" cy="0"/>
          </a:xfrm>
          <a:prstGeom prst="lin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16" name="Map - Study Boundary"/>
          <p:cNvSpPr/>
          <p:nvPr/>
        </p:nvSpPr>
        <p:spPr>
          <a:xfrm>
            <a:off x="2651760" y="1737360"/>
            <a:ext cx="4023360" cy="2377440"/>
          </a:xfrm>
          <a:custGeom>
            <a:avLst/>
            <a:gdLst/>
            <a:ahLst/>
            <a:cxnLst/>
            <a:rect l="l" t="t" r="r" b="b"/>
            <a:pathLst>
              <a:path w="4023360" h="2377440">
                <a:moveTo>
                  <a:pt x="274320" y="457200"/>
                </a:moveTo>
                <a:lnTo>
                  <a:pt x="1463040" y="91440"/>
                </a:lnTo>
                <a:lnTo>
                  <a:pt x="2743200" y="228600"/>
                </a:lnTo>
                <a:lnTo>
                  <a:pt x="3840480" y="822960"/>
                </a:lnTo>
                <a:lnTo>
                  <a:pt x="3566160" y="1828800"/>
                </a:lnTo>
                <a:lnTo>
                  <a:pt x="2377440" y="2286000"/>
                </a:lnTo>
                <a:lnTo>
                  <a:pt x="914400" y="2148840"/>
                </a:lnTo>
                <a:lnTo>
                  <a:pt x="91440" y="1371600"/>
                </a:lnTo>
                <a:close/>
              </a:path>
            </a:pathLst>
          </a:custGeom>
          <a:solidFill>
            <a:schemeClr val="accent1">
              <a:alpha val="10000"/>
            </a:schemeClr>
          </a:solidFill>
          <a:ln w="19050">
            <a:solidFill>
              <a:schemeClr val="accent1"/>
            </a:solidFill>
            <a:prstDash val="dash"/>
          </a:ln>
        </p:spPr>
        <p:txBody>
          <a:bodyPr wrap="square"/>
          <a:p>
            <a:pPr algn="l">
              <a:spcBef>
                <a:spcPts val="0"/>
              </a:spcBef>
              <a:spcAft>
                <a:spcPts val="200"/>
              </a:spcAft>
            </a:pPr>
          </a:p>
        </p:txBody>
      </p:sp>
      <p:sp>
        <p:nvSpPr>
          <p:cNvPr id="17" name="Map - Study Boundary Label"/>
          <p:cNvSpPr txBox="1"/>
          <p:nvPr/>
        </p:nvSpPr>
        <p:spPr>
          <a:xfrm>
            <a:off x="3840480" y="1993392"/>
            <a:ext cx="1463040" cy="201168"/>
          </a:xfrm>
          <a:prstGeom prst="rect">
            <a:avLst/>
          </a:prstGeom>
          <a:noFill/>
          <a:ln/>
        </p:spPr>
        <p:txBody>
          <a:bodyPr wrap="square" lIns="27432" tIns="18288" rIns="27432" bIns="18288" rtlCol="0" anchor="ctr"/>
          <a:lstStyle/>
          <a:p>
            <a:pPr algn="ctr" indent="0" marL="0">
              <a:spcBef>
                <a:spcPts val="0"/>
              </a:spcBef>
              <a:spcAft>
                <a:spcPts val="100"/>
              </a:spcAft>
              <a:buNone/>
            </a:pPr>
            <a:r>
              <a:rPr lang="en-US" sz="900" b="1" dirty="0">
                <a:solidFill>
                  <a:srgbClr val="697480"/>
                </a:solidFill>
                <a:latin typeface="Aptos"/>
              </a:rPr>
              <a:t>[STUDY BOUNDARY]</a:t>
            </a:r>
            <a:endParaRPr lang="en-US" sz="1000" dirty="0"/>
          </a:p>
        </p:txBody>
      </p:sp>
      <p:sp>
        <p:nvSpPr>
          <p:cNvPr id="18" name="Map - Placeholder Label"/>
          <p:cNvSpPr txBox="1"/>
          <p:nvPr/>
        </p:nvSpPr>
        <p:spPr>
          <a:xfrm>
            <a:off x="3291840" y="2331720"/>
            <a:ext cx="2560320" cy="640080"/>
          </a:xfrm>
          <a:prstGeom prst="rect">
            <a:avLst/>
          </a:prstGeom>
          <a:solidFill>
            <a:srgbClr val="F2F7F9"/>
          </a:solidFill>
          <a:ln w="15240">
            <a:solidFill>
              <a:srgbClr val="2D7091"/>
            </a:solidFill>
            <a:prstDash val="dash"/>
          </a:ln>
        </p:spPr>
        <p:txBody>
          <a:bodyPr wrap="square" lIns="27432" tIns="18288" rIns="27432" bIns="18288" rtlCol="0" anchor="ctr"/>
          <a:lstStyle/>
          <a:p>
            <a:pPr algn="ctr" indent="0" marL="0">
              <a:spcBef>
                <a:spcPts val="0"/>
              </a:spcBef>
              <a:spcAft>
                <a:spcPts val="100"/>
              </a:spcAft>
              <a:buNone/>
            </a:pPr>
            <a:r>
              <a:rPr lang="en-US" sz="900" b="1" dirty="0">
                <a:solidFill>
                  <a:srgbClr val="697480"/>
                </a:solidFill>
                <a:latin typeface="Aptos"/>
              </a:rPr>
              <a:t>[MAP]</a:t>
            </a:r>
            <a:endParaRPr lang="en-US" sz="4000" dirty="0"/>
          </a:p>
        </p:txBody>
      </p:sp>
      <p:sp>
        <p:nvSpPr>
          <p:cNvPr id="19" name="Map - Placeholder Hint"/>
          <p:cNvSpPr txBox="1"/>
          <p:nvPr/>
        </p:nvSpPr>
        <p:spPr>
          <a:xfrm>
            <a:off x="3291840" y="2971800"/>
            <a:ext cx="2560320" cy="457200"/>
          </a:xfrm>
          <a:prstGeom prst="rect">
            <a:avLst/>
          </a:prstGeom>
          <a:noFill/>
          <a:ln/>
        </p:spPr>
        <p:txBody>
          <a:bodyPr wrap="square" lIns="0" tIns="0" rIns="0" bIns="0" rtlCol="0" anchor="t"/>
          <a:lstStyle/>
          <a:p>
            <a:pPr algn="l" indent="0" marL="0">
              <a:spcBef>
                <a:spcPts val="0"/>
              </a:spcBef>
              <a:spcAft>
                <a:spcPts val="200"/>
              </a:spcAft>
              <a:buNone/>
            </a:pPr>
            <a:r>
              <a:rPr lang="en-US" sz="1000" dirty="0">
                <a:solidFill>
                  <a:srgbClr val="37414B"/>
                </a:solidFill>
                <a:latin typeface="Aptos"/>
              </a:rPr>
              <a:t>Main thematic layer – insert exported GIS map here</a:t>
            </a:r>
            <a:endParaRPr lang="en-US" sz="1200" dirty="0"/>
          </a:p>
        </p:txBody>
      </p:sp>
      <p:sp>
        <p:nvSpPr>
          <p:cNvPr id="20" name="Map - Road placeholder"/>
          <p:cNvSpPr/>
          <p:nvPr/>
        </p:nvSpPr>
        <p:spPr>
          <a:xfrm>
            <a:off x="822960" y="2240280"/>
            <a:ext cx="1737360" cy="822960"/>
          </a:xfrm>
          <a:prstGeom prst="line">
            <a:avLst/>
          </a:prstGeom>
          <a:solidFill>
            <a:srgbClr val="FFFFFF"/>
          </a:solidFill>
          <a:ln w="7620">
            <a:solidFill>
              <a:srgbClr val="D2DAE1"/>
            </a:solidFill>
            <a:prstDash val="dash"/>
          </a:ln>
        </p:spPr>
        <p:txBody>
          <a:bodyPr wrap="square"/>
          <a:p>
            <a:pPr algn="l">
              <a:spcBef>
                <a:spcPts val="0"/>
              </a:spcBef>
              <a:spcAft>
                <a:spcPts val="200"/>
              </a:spcAft>
            </a:pPr>
          </a:p>
        </p:txBody>
      </p:sp>
      <p:sp>
        <p:nvSpPr>
          <p:cNvPr id="21" name="Map - Road label"/>
          <p:cNvSpPr txBox="1"/>
          <p:nvPr/>
        </p:nvSpPr>
        <p:spPr>
          <a:xfrm>
            <a:off x="822960" y="1965960"/>
            <a:ext cx="82296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[ROADS]</a:t>
            </a:r>
            <a:endParaRPr lang="en-US" sz="1000" dirty="0"/>
          </a:p>
        </p:txBody>
      </p:sp>
      <p:sp>
        <p:nvSpPr>
          <p:cNvPr id="22" name="Map - Water placeholder"/>
          <p:cNvSpPr/>
          <p:nvPr/>
        </p:nvSpPr>
        <p:spPr>
          <a:xfrm>
            <a:off x="6812280" y="2377440"/>
            <a:ext cx="960120" cy="1051560"/>
          </a:xfrm>
          <a:prstGeom prst="line">
            <a:avLst/>
          </a:prstGeom>
          <a:solidFill>
            <a:srgbClr val="FFFFFF"/>
          </a:solidFill>
          <a:ln w="7620">
            <a:solidFill>
              <a:srgbClr val="D2DAE1"/>
            </a:solidFill>
            <a:prstDash val="dash"/>
          </a:ln>
        </p:spPr>
        <p:txBody>
          <a:bodyPr wrap="square"/>
          <a:p>
            <a:pPr algn="l">
              <a:spcBef>
                <a:spcPts val="0"/>
              </a:spcBef>
              <a:spcAft>
                <a:spcPts val="200"/>
              </a:spcAft>
            </a:pPr>
          </a:p>
        </p:txBody>
      </p:sp>
      <p:sp>
        <p:nvSpPr>
          <p:cNvPr id="23" name="Map - Water label"/>
          <p:cNvSpPr txBox="1"/>
          <p:nvPr/>
        </p:nvSpPr>
        <p:spPr>
          <a:xfrm>
            <a:off x="6949440" y="3520440"/>
            <a:ext cx="82296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[WATER]</a:t>
            </a:r>
            <a:endParaRPr lang="en-US" sz="1000" dirty="0"/>
          </a:p>
        </p:txBody>
      </p:sp>
      <p:sp>
        <p:nvSpPr>
          <p:cNvPr id="24" name="Map - Location pin 1"/>
          <p:cNvSpPr/>
          <p:nvPr/>
        </p:nvSpPr>
        <p:spPr>
          <a:xfrm>
            <a:off x="3429000" y="3611880"/>
            <a:ext cx="146304" cy="146304"/>
          </a:xfrm>
          <a:prstGeom prst="ellips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25" name="Map - Location label 1"/>
          <p:cNvSpPr txBox="1"/>
          <p:nvPr/>
        </p:nvSpPr>
        <p:spPr>
          <a:xfrm>
            <a:off x="3630168" y="3584448"/>
            <a:ext cx="100584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[LOCATION A]</a:t>
            </a:r>
            <a:endParaRPr lang="en-US" sz="1000" dirty="0"/>
          </a:p>
        </p:txBody>
      </p:sp>
      <p:sp>
        <p:nvSpPr>
          <p:cNvPr id="26" name="Map - Location pin 2"/>
          <p:cNvSpPr/>
          <p:nvPr/>
        </p:nvSpPr>
        <p:spPr>
          <a:xfrm>
            <a:off x="4846320" y="3474720"/>
            <a:ext cx="146304" cy="146304"/>
          </a:xfrm>
          <a:prstGeom prst="ellipse">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27" name="Map - Location label 2"/>
          <p:cNvSpPr txBox="1"/>
          <p:nvPr/>
        </p:nvSpPr>
        <p:spPr>
          <a:xfrm>
            <a:off x="5047488" y="3447288"/>
            <a:ext cx="100584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[LOCATION B]</a:t>
            </a:r>
            <a:endParaRPr lang="en-US" sz="1000" dirty="0"/>
          </a:p>
        </p:txBody>
      </p:sp>
      <p:sp>
        <p:nvSpPr>
          <p:cNvPr id="28" name="Map - Title and corner coordinate"/>
          <p:cNvSpPr txBox="1"/>
          <p:nvPr/>
        </p:nvSpPr>
        <p:spPr>
          <a:xfrm>
            <a:off x="594360" y="1280160"/>
            <a:ext cx="3291840" cy="411480"/>
          </a:xfrm>
          <a:prstGeom prst="rect">
            <a:avLst/>
          </a:prstGeom>
          <a:noFill/>
          <a:ln/>
        </p:spPr>
        <p:txBody>
          <a:bodyPr wrap="square" lIns="27432" tIns="18288" rIns="27432" bIns="18288" rtlCol="0" anchor="t"/>
          <a:lstStyle/>
          <a:p>
            <a:pPr indent="0" marL="0" algn="l">
              <a:spcBef>
                <a:spcPts val="0"/>
              </a:spcBef>
              <a:spcAft>
                <a:spcPts val="100"/>
              </a:spcAft>
              <a:buNone/>
            </a:pPr>
            <a:r>
              <a:rPr lang="en-US" sz="850" b="0" dirty="0">
                <a:solidFill>
                  <a:srgbClr val="37414B"/>
                </a:solidFill>
                <a:latin typeface="Aptos"/>
              </a:rPr>
              <a:t>[MAP TITLE / LAYER NAME]</a:t>
            </a:r>
            <a:endParaRPr lang="en-US" sz="1200" dirty="0"/>
          </a:p>
          <a:p>
            <a:pPr indent="0" marL="0" algn="l">
              <a:spcBef>
                <a:spcPts val="0"/>
              </a:spcBef>
              <a:spcAft>
                <a:spcPts val="100"/>
              </a:spcAft>
              <a:buNone/>
            </a:pPr>
            <a:r>
              <a:rPr lang="en-US" sz="850" dirty="0" b="0">
                <a:solidFill>
                  <a:srgbClr val="37414B"/>
                </a:solidFill>
                <a:latin typeface="Aptos"/>
              </a:rPr>
              <a:t>[LAT N, LON W]  ·  NW corner</a:t>
            </a:r>
            <a:endParaRPr lang="en-US" sz="1200" dirty="0"/>
          </a:p>
        </p:txBody>
      </p:sp>
      <p:sp>
        <p:nvSpPr>
          <p:cNvPr id="29" name="Map - North arrow label"/>
          <p:cNvSpPr txBox="1"/>
          <p:nvPr/>
        </p:nvSpPr>
        <p:spPr>
          <a:xfrm>
            <a:off x="7543800" y="1280160"/>
            <a:ext cx="365760" cy="228600"/>
          </a:xfrm>
          <a:prstGeom prst="rect">
            <a:avLst/>
          </a:prstGeom>
          <a:noFill/>
          <a:ln/>
        </p:spPr>
        <p:txBody>
          <a:bodyPr wrap="square" lIns="27432" tIns="18288" rIns="27432" bIns="18288" rtlCol="0" anchor="ctr"/>
          <a:lstStyle/>
          <a:p>
            <a:pPr algn="ctr" indent="0" marL="0">
              <a:spcBef>
                <a:spcPts val="0"/>
              </a:spcBef>
              <a:spcAft>
                <a:spcPts val="100"/>
              </a:spcAft>
              <a:buNone/>
            </a:pPr>
            <a:r>
              <a:rPr lang="en-US" sz="800" b="1" dirty="0">
                <a:solidFill>
                  <a:srgbClr val="697480"/>
                </a:solidFill>
                <a:latin typeface="Aptos"/>
              </a:rPr>
              <a:t>N</a:t>
            </a:r>
            <a:endParaRPr lang="en-US" sz="1200" dirty="0"/>
          </a:p>
        </p:txBody>
      </p:sp>
      <p:sp>
        <p:nvSpPr>
          <p:cNvPr id="30" name="Map - North arrow"/>
          <p:cNvSpPr/>
          <p:nvPr/>
        </p:nvSpPr>
        <p:spPr>
          <a:xfrm>
            <a:off x="7607808" y="1536192"/>
            <a:ext cx="237744" cy="384048"/>
          </a:xfrm>
          <a:prstGeom prst="triangle">
            <a:avLst/>
          </a:prstGeom>
          <a:solidFill>
            <a:srgbClr val="FFFFFF"/>
          </a:solidFill>
          <a:ln w="7620">
            <a:solidFill>
              <a:srgbClr val="D2DAE1"/>
            </a:solidFill>
          </a:ln>
        </p:spPr>
        <p:txBody>
          <a:bodyPr wrap="square"/>
          <a:p>
            <a:pPr algn="l">
              <a:spcBef>
                <a:spcPts val="0"/>
              </a:spcBef>
              <a:spcAft>
                <a:spcPts val="200"/>
              </a:spcAft>
            </a:pPr>
          </a:p>
        </p:txBody>
      </p:sp>
      <p:sp>
        <p:nvSpPr>
          <p:cNvPr id="31" name="Map - Legend box"/>
          <p:cNvSpPr/>
          <p:nvPr/>
        </p:nvSpPr>
        <p:spPr>
          <a:xfrm>
            <a:off x="640080" y="3383280"/>
            <a:ext cx="1828800" cy="1280160"/>
          </a:xfrm>
          <a:prstGeom prst="rect">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32" name="Map - Legend title"/>
          <p:cNvSpPr txBox="1"/>
          <p:nvPr/>
        </p:nvSpPr>
        <p:spPr>
          <a:xfrm>
            <a:off x="768096" y="3438144"/>
            <a:ext cx="155448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b="1" dirty="0">
                <a:solidFill>
                  <a:srgbClr val="2D7091"/>
                </a:solidFill>
                <a:latin typeface="Aptos"/>
              </a:rPr>
              <a:t>LEGEND</a:t>
            </a:r>
            <a:endParaRPr lang="en-US" sz="1000" dirty="0"/>
          </a:p>
        </p:txBody>
      </p:sp>
      <p:sp>
        <p:nvSpPr>
          <p:cNvPr id="33" name="Map - Legend swatch 1"/>
          <p:cNvSpPr/>
          <p:nvPr/>
        </p:nvSpPr>
        <p:spPr>
          <a:xfrm>
            <a:off x="768096" y="3712464"/>
            <a:ext cx="182880" cy="128016"/>
          </a:xfrm>
          <a:prstGeom prst="rect">
            <a:avLst/>
          </a:prstGeom>
          <a:solidFill>
            <a:srgbClr val="FFFFFF"/>
          </a:solidFill>
          <a:ln w="7620">
            <a:solidFill>
              <a:srgbClr val="D2DAE1"/>
            </a:solidFill>
          </a:ln>
        </p:spPr>
        <p:txBody>
          <a:bodyPr wrap="square"/>
          <a:p>
            <a:pPr algn="l">
              <a:spcBef>
                <a:spcPts val="0"/>
              </a:spcBef>
              <a:spcAft>
                <a:spcPts val="200"/>
              </a:spcAft>
            </a:pPr>
          </a:p>
        </p:txBody>
      </p:sp>
      <p:sp>
        <p:nvSpPr>
          <p:cNvPr id="34" name="Map - Legend label 1"/>
          <p:cNvSpPr txBox="1"/>
          <p:nvPr/>
        </p:nvSpPr>
        <p:spPr>
          <a:xfrm>
            <a:off x="1042416" y="3675888"/>
            <a:ext cx="132588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[CLASS 1 · LOW]</a:t>
            </a:r>
            <a:endParaRPr lang="en-US" sz="1000" dirty="0"/>
          </a:p>
        </p:txBody>
      </p:sp>
      <p:sp>
        <p:nvSpPr>
          <p:cNvPr id="35" name="Map - Legend swatch 2"/>
          <p:cNvSpPr/>
          <p:nvPr/>
        </p:nvSpPr>
        <p:spPr>
          <a:xfrm>
            <a:off x="768096" y="3959352"/>
            <a:ext cx="182880" cy="128016"/>
          </a:xfrm>
          <a:prstGeom prst="rect">
            <a:avLst/>
          </a:prstGeom>
          <a:solidFill>
            <a:srgbClr val="FFFFFF"/>
          </a:solidFill>
          <a:ln w="7620">
            <a:solidFill>
              <a:srgbClr val="D2DAE1"/>
            </a:solidFill>
          </a:ln>
        </p:spPr>
        <p:txBody>
          <a:bodyPr wrap="square"/>
          <a:p>
            <a:pPr algn="l">
              <a:spcBef>
                <a:spcPts val="0"/>
              </a:spcBef>
              <a:spcAft>
                <a:spcPts val="200"/>
              </a:spcAft>
            </a:pPr>
          </a:p>
        </p:txBody>
      </p:sp>
      <p:sp>
        <p:nvSpPr>
          <p:cNvPr id="36" name="Map - Legend label 2"/>
          <p:cNvSpPr txBox="1"/>
          <p:nvPr/>
        </p:nvSpPr>
        <p:spPr>
          <a:xfrm>
            <a:off x="1042416" y="3922776"/>
            <a:ext cx="132588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[CLASS 2]</a:t>
            </a:r>
            <a:endParaRPr lang="en-US" sz="1000" dirty="0"/>
          </a:p>
        </p:txBody>
      </p:sp>
      <p:sp>
        <p:nvSpPr>
          <p:cNvPr id="37" name="Map - Legend swatch 3"/>
          <p:cNvSpPr/>
          <p:nvPr/>
        </p:nvSpPr>
        <p:spPr>
          <a:xfrm>
            <a:off x="768096" y="4206240"/>
            <a:ext cx="182880" cy="128016"/>
          </a:xfrm>
          <a:prstGeom prst="rect">
            <a:avLst/>
          </a:prstGeom>
          <a:solidFill>
            <a:srgbClr val="FFFFFF"/>
          </a:solidFill>
          <a:ln w="7620">
            <a:solidFill>
              <a:srgbClr val="D2DAE1"/>
            </a:solidFill>
          </a:ln>
        </p:spPr>
        <p:txBody>
          <a:bodyPr wrap="square"/>
          <a:p>
            <a:pPr algn="l">
              <a:spcBef>
                <a:spcPts val="0"/>
              </a:spcBef>
              <a:spcAft>
                <a:spcPts val="200"/>
              </a:spcAft>
            </a:pPr>
          </a:p>
        </p:txBody>
      </p:sp>
      <p:sp>
        <p:nvSpPr>
          <p:cNvPr id="38" name="Map - Legend label 3"/>
          <p:cNvSpPr txBox="1"/>
          <p:nvPr/>
        </p:nvSpPr>
        <p:spPr>
          <a:xfrm>
            <a:off x="1042416" y="4169664"/>
            <a:ext cx="132588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[CLASS 3]</a:t>
            </a:r>
            <a:endParaRPr lang="en-US" sz="1000" dirty="0"/>
          </a:p>
        </p:txBody>
      </p:sp>
      <p:sp>
        <p:nvSpPr>
          <p:cNvPr id="39" name="Map - Legend swatch 4"/>
          <p:cNvSpPr/>
          <p:nvPr/>
        </p:nvSpPr>
        <p:spPr>
          <a:xfrm>
            <a:off x="768096" y="4453128"/>
            <a:ext cx="182880" cy="128016"/>
          </a:xfrm>
          <a:prstGeom prst="rect">
            <a:avLst/>
          </a:prstGeom>
          <a:solidFill>
            <a:srgbClr val="FFFFFF"/>
          </a:solidFill>
          <a:ln w="7620">
            <a:solidFill>
              <a:srgbClr val="D2DAE1"/>
            </a:solidFill>
          </a:ln>
        </p:spPr>
        <p:txBody>
          <a:bodyPr wrap="square"/>
          <a:p>
            <a:pPr algn="l">
              <a:spcBef>
                <a:spcPts val="0"/>
              </a:spcBef>
              <a:spcAft>
                <a:spcPts val="200"/>
              </a:spcAft>
            </a:pPr>
          </a:p>
        </p:txBody>
      </p:sp>
      <p:sp>
        <p:nvSpPr>
          <p:cNvPr id="40" name="Map - Legend label 4"/>
          <p:cNvSpPr txBox="1"/>
          <p:nvPr/>
        </p:nvSpPr>
        <p:spPr>
          <a:xfrm>
            <a:off x="1042416" y="4416552"/>
            <a:ext cx="132588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[CLASS 4 · HIGH]</a:t>
            </a:r>
            <a:endParaRPr lang="en-US" sz="1000" dirty="0"/>
          </a:p>
        </p:txBody>
      </p:sp>
      <p:sp>
        <p:nvSpPr>
          <p:cNvPr id="41" name="Map - Coordinate and grid info"/>
          <p:cNvSpPr txBox="1"/>
          <p:nvPr/>
        </p:nvSpPr>
        <p:spPr>
          <a:xfrm>
            <a:off x="2697480" y="4498848"/>
            <a:ext cx="329184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[EPSG:XXXX]  ·  GRID [X°]  ·  [EXTENT / CURSOR LAT, LON]</a:t>
            </a:r>
            <a:endParaRPr lang="en-US" sz="1000" dirty="0"/>
          </a:p>
        </p:txBody>
      </p:sp>
      <p:sp>
        <p:nvSpPr>
          <p:cNvPr id="42" name="Map - Scale bar segment 1"/>
          <p:cNvSpPr/>
          <p:nvPr/>
        </p:nvSpPr>
        <p:spPr>
          <a:xfrm>
            <a:off x="6172200" y="4370832"/>
            <a:ext cx="457200" cy="82296"/>
          </a:xfrm>
          <a:prstGeom prst="rect">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43" name="Map - Scale bar segment 2"/>
          <p:cNvSpPr/>
          <p:nvPr/>
        </p:nvSpPr>
        <p:spPr>
          <a:xfrm>
            <a:off x="6629400" y="4370832"/>
            <a:ext cx="457200" cy="82296"/>
          </a:xfrm>
          <a:prstGeom prst="rect">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44" name="Map - Scale bar segment 3"/>
          <p:cNvSpPr/>
          <p:nvPr/>
        </p:nvSpPr>
        <p:spPr>
          <a:xfrm>
            <a:off x="7086600" y="4370832"/>
            <a:ext cx="457200" cy="82296"/>
          </a:xfrm>
          <a:prstGeom prst="rect">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45" name="Map - Scale label 1"/>
          <p:cNvSpPr txBox="1"/>
          <p:nvPr/>
        </p:nvSpPr>
        <p:spPr>
          <a:xfrm>
            <a:off x="6172200" y="4480560"/>
            <a:ext cx="640080" cy="182880"/>
          </a:xfrm>
          <a:prstGeom prst="rect">
            <a:avLst/>
          </a:prstGeom>
          <a:noFill/>
          <a:ln/>
        </p:spPr>
        <p:txBody>
          <a:bodyPr wrap="square" lIns="27432" tIns="18288" rIns="27432" bIns="18288" rtlCol="0" anchor="ctr"/>
          <a:lstStyle/>
          <a:p>
            <a:pPr indent="0" marL="0" algn="ctr">
              <a:spcBef>
                <a:spcPts val="0"/>
              </a:spcBef>
              <a:spcAft>
                <a:spcPts val="100"/>
              </a:spcAft>
              <a:buNone/>
            </a:pPr>
            <a:r>
              <a:rPr lang="en-US" sz="800" dirty="0" b="1">
                <a:solidFill>
                  <a:srgbClr val="697480"/>
                </a:solidFill>
                <a:latin typeface="Aptos"/>
              </a:rPr>
              <a:t>0</a:t>
            </a:r>
            <a:endParaRPr lang="en-US" sz="1000" dirty="0"/>
          </a:p>
        </p:txBody>
      </p:sp>
      <p:sp>
        <p:nvSpPr>
          <p:cNvPr id="46" name="Map - Scale label 2"/>
          <p:cNvSpPr txBox="1"/>
          <p:nvPr/>
        </p:nvSpPr>
        <p:spPr>
          <a:xfrm>
            <a:off x="6629400" y="4480560"/>
            <a:ext cx="640080" cy="182880"/>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[X]</a:t>
            </a:r>
            <a:endParaRPr lang="en-US" sz="1000" dirty="0"/>
          </a:p>
        </p:txBody>
      </p:sp>
      <p:sp>
        <p:nvSpPr>
          <p:cNvPr id="47" name="Map - Scale label 3"/>
          <p:cNvSpPr txBox="1"/>
          <p:nvPr/>
        </p:nvSpPr>
        <p:spPr>
          <a:xfrm>
            <a:off x="7086600" y="4480560"/>
            <a:ext cx="640080" cy="182880"/>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[2X] km</a:t>
            </a:r>
            <a:endParaRPr lang="en-US" sz="1000" dirty="0"/>
          </a:p>
        </p:txBody>
      </p:sp>
      <p:sp>
        <p:nvSpPr>
          <p:cNvPr id="48" name="Card 1 - Key Finding background"/>
          <p:cNvSpPr/>
          <p:nvPr/>
        </p:nvSpPr>
        <p:spPr>
          <a:xfrm>
            <a:off x="8229600" y="1188720"/>
            <a:ext cx="3502152" cy="640080"/>
          </a:xfrm>
          <a:prstGeom prst="roundRect">
            <a:avLst>
              <a:gd name="adj" fmla="val 11429"/>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49" name="Card 1 - Badge"/>
          <p:cNvSpPr txBox="1"/>
          <p:nvPr/>
        </p:nvSpPr>
        <p:spPr>
          <a:xfrm>
            <a:off x="8366760" y="1353312"/>
            <a:ext cx="310896" cy="310896"/>
          </a:xfrm>
          <a:prstGeom prst="ellipse">
            <a:avLst/>
          </a:prstGeom>
          <a:solidFill>
            <a:schemeClr val="tx1"/>
          </a:solidFill>
          <a:ln w="12700">
            <a:solidFill>
              <a:schemeClr val="accent1"/>
            </a:solidFill>
          </a:ln>
        </p:spPr>
        <p:txBody>
          <a:bodyPr wrap="square" lIns="27432" tIns="18288" rIns="27432" bIns="18288" rtlCol="0" anchor="ctr"/>
          <a:lstStyle/>
          <a:p>
            <a:pPr algn="ctr" indent="0" marL="0">
              <a:spcBef>
                <a:spcPts val="0"/>
              </a:spcBef>
              <a:spcAft>
                <a:spcPts val="100"/>
              </a:spcAft>
              <a:buNone/>
            </a:pPr>
            <a:r>
              <a:rPr lang="en-US" sz="800" b="1" dirty="0">
                <a:solidFill>
                  <a:srgbClr val="697480"/>
                </a:solidFill>
                <a:latin typeface="Aptos"/>
              </a:rPr>
              <a:t>1</a:t>
            </a:r>
            <a:endParaRPr lang="en-US" sz="1200" dirty="0"/>
          </a:p>
        </p:txBody>
      </p:sp>
      <p:sp>
        <p:nvSpPr>
          <p:cNvPr id="50" name="Card 1 - Label"/>
          <p:cNvSpPr txBox="1"/>
          <p:nvPr/>
        </p:nvSpPr>
        <p:spPr>
          <a:xfrm>
            <a:off x="8823960" y="1261872"/>
            <a:ext cx="2743200" cy="201168"/>
          </a:xfrm>
          <a:prstGeom prst="rect">
            <a:avLst/>
          </a:prstGeom>
          <a:solidFill>
            <a:srgbClr val="FFFFFF"/>
          </a:solidFill>
          <a:ln w="10160">
            <a:solidFill>
              <a:srgbClr val="D2DAE1"/>
            </a:solidFill>
          </a:ln>
        </p:spPr>
        <p:txBody>
          <a:bodyPr wrap="square" lIns="27432" tIns="18288" rIns="27432" bIns="18288" rtlCol="0" anchor="ctr"/>
          <a:lstStyle/>
          <a:p>
            <a:pPr indent="0" marL="0" algn="l">
              <a:spcBef>
                <a:spcPts val="0"/>
              </a:spcBef>
              <a:spcAft>
                <a:spcPts val="100"/>
              </a:spcAft>
              <a:buNone/>
            </a:pPr>
            <a:r>
              <a:rPr lang="en-US" sz="950" b="1" dirty="0">
                <a:solidFill>
                  <a:srgbClr val="192D41"/>
                </a:solidFill>
                <a:latin typeface="Aptos"/>
              </a:rPr>
              <a:t>[KEY FINDING 1]</a:t>
            </a:r>
            <a:endParaRPr lang="en-US" sz="1100" dirty="0"/>
          </a:p>
        </p:txBody>
      </p:sp>
      <p:sp>
        <p:nvSpPr>
          <p:cNvPr id="51" name="Card 1 - Insight"/>
          <p:cNvSpPr txBox="1"/>
          <p:nvPr/>
        </p:nvSpPr>
        <p:spPr>
          <a:xfrm>
            <a:off x="8823960" y="1463040"/>
            <a:ext cx="2788920" cy="347472"/>
          </a:xfrm>
          <a:prstGeom prst="rect">
            <a:avLst/>
          </a:prstGeom>
          <a:noFill/>
          <a:ln/>
        </p:spPr>
        <p:txBody>
          <a:bodyPr wrap="square" lIns="27432" tIns="18288" rIns="27432" bIns="18288" rtlCol="0" anchor="t"/>
          <a:lstStyle/>
          <a:p>
            <a:pPr indent="0" marL="0" algn="l">
              <a:spcBef>
                <a:spcPts val="0"/>
              </a:spcBef>
              <a:spcAft>
                <a:spcPts val="100"/>
              </a:spcAft>
              <a:buNone/>
            </a:pPr>
            <a:r>
              <a:rPr lang="en-US" sz="850" dirty="0" b="0">
                <a:solidFill>
                  <a:srgbClr val="37414B"/>
                </a:solidFill>
                <a:latin typeface="Aptos"/>
              </a:rPr>
              <a:t>[One-sentence insight, max ~12 words]</a:t>
            </a:r>
            <a:endParaRPr lang="en-US" sz="1200" dirty="0"/>
          </a:p>
        </p:txBody>
      </p:sp>
      <p:sp>
        <p:nvSpPr>
          <p:cNvPr id="52" name="Card 2 - Key Finding background"/>
          <p:cNvSpPr/>
          <p:nvPr/>
        </p:nvSpPr>
        <p:spPr>
          <a:xfrm>
            <a:off x="8229600" y="2011680"/>
            <a:ext cx="3502152" cy="640080"/>
          </a:xfrm>
          <a:prstGeom prst="roundRect">
            <a:avLst>
              <a:gd name="adj" fmla="val 11429"/>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53" name="Card 2 - Badge"/>
          <p:cNvSpPr txBox="1"/>
          <p:nvPr/>
        </p:nvSpPr>
        <p:spPr>
          <a:xfrm>
            <a:off x="8366760" y="2176272"/>
            <a:ext cx="310896" cy="310896"/>
          </a:xfrm>
          <a:prstGeom prst="ellipse">
            <a:avLst/>
          </a:prstGeom>
          <a:solidFill>
            <a:schemeClr val="tx1"/>
          </a:solidFill>
          <a:ln w="12700">
            <a:solidFill>
              <a:schemeClr val="accent2"/>
            </a:solidFill>
          </a:ln>
        </p:spPr>
        <p:txBody>
          <a:bodyPr wrap="square" lIns="27432" tIns="18288" rIns="27432" bIns="18288" rtlCol="0" anchor="ctr"/>
          <a:lstStyle/>
          <a:p>
            <a:pPr algn="ctr" indent="0" marL="0">
              <a:spcBef>
                <a:spcPts val="0"/>
              </a:spcBef>
              <a:spcAft>
                <a:spcPts val="100"/>
              </a:spcAft>
              <a:buNone/>
            </a:pPr>
            <a:r>
              <a:rPr lang="en-US" sz="800" b="1" dirty="0">
                <a:solidFill>
                  <a:srgbClr val="697480"/>
                </a:solidFill>
                <a:latin typeface="Aptos"/>
              </a:rPr>
              <a:t>2</a:t>
            </a:r>
            <a:endParaRPr lang="en-US" sz="1200" dirty="0"/>
          </a:p>
        </p:txBody>
      </p:sp>
      <p:sp>
        <p:nvSpPr>
          <p:cNvPr id="54" name="Card 2 - Label"/>
          <p:cNvSpPr txBox="1"/>
          <p:nvPr/>
        </p:nvSpPr>
        <p:spPr>
          <a:xfrm>
            <a:off x="8823960" y="2084832"/>
            <a:ext cx="2743200" cy="201168"/>
          </a:xfrm>
          <a:prstGeom prst="rect">
            <a:avLst/>
          </a:prstGeom>
          <a:solidFill>
            <a:srgbClr val="FFFFFF"/>
          </a:solidFill>
          <a:ln w="10160">
            <a:solidFill>
              <a:srgbClr val="D2DAE1"/>
            </a:solidFill>
          </a:ln>
        </p:spPr>
        <p:txBody>
          <a:bodyPr wrap="square" lIns="27432" tIns="18288" rIns="27432" bIns="18288" rtlCol="0" anchor="ctr"/>
          <a:lstStyle/>
          <a:p>
            <a:pPr indent="0" marL="0" algn="l">
              <a:spcBef>
                <a:spcPts val="0"/>
              </a:spcBef>
              <a:spcAft>
                <a:spcPts val="100"/>
              </a:spcAft>
              <a:buNone/>
            </a:pPr>
            <a:r>
              <a:rPr lang="en-US" sz="950" b="1" dirty="0">
                <a:solidFill>
                  <a:srgbClr val="192D41"/>
                </a:solidFill>
                <a:latin typeface="Aptos"/>
              </a:rPr>
              <a:t>[KEY FINDING 2]</a:t>
            </a:r>
            <a:endParaRPr lang="en-US" sz="1100" dirty="0"/>
          </a:p>
        </p:txBody>
      </p:sp>
      <p:sp>
        <p:nvSpPr>
          <p:cNvPr id="55" name="Card 2 - Insight"/>
          <p:cNvSpPr txBox="1"/>
          <p:nvPr/>
        </p:nvSpPr>
        <p:spPr>
          <a:xfrm>
            <a:off x="8823960" y="2286000"/>
            <a:ext cx="2788920" cy="347472"/>
          </a:xfrm>
          <a:prstGeom prst="rect">
            <a:avLst/>
          </a:prstGeom>
          <a:noFill/>
          <a:ln/>
        </p:spPr>
        <p:txBody>
          <a:bodyPr wrap="square" lIns="27432" tIns="18288" rIns="27432" bIns="18288" rtlCol="0" anchor="t"/>
          <a:lstStyle/>
          <a:p>
            <a:pPr indent="0" marL="0" algn="l">
              <a:spcBef>
                <a:spcPts val="0"/>
              </a:spcBef>
              <a:spcAft>
                <a:spcPts val="100"/>
              </a:spcAft>
              <a:buNone/>
            </a:pPr>
            <a:r>
              <a:rPr lang="en-US" sz="850" dirty="0" b="0">
                <a:solidFill>
                  <a:srgbClr val="37414B"/>
                </a:solidFill>
                <a:latin typeface="Aptos"/>
              </a:rPr>
              <a:t>[One-sentence insight, max ~12 words]</a:t>
            </a:r>
            <a:endParaRPr lang="en-US" sz="1200" dirty="0"/>
          </a:p>
        </p:txBody>
      </p:sp>
      <p:sp>
        <p:nvSpPr>
          <p:cNvPr id="56" name="Card 3 - Key Finding background"/>
          <p:cNvSpPr/>
          <p:nvPr/>
        </p:nvSpPr>
        <p:spPr>
          <a:xfrm>
            <a:off x="8229600" y="2834640"/>
            <a:ext cx="3502152" cy="640080"/>
          </a:xfrm>
          <a:prstGeom prst="roundRect">
            <a:avLst>
              <a:gd name="adj" fmla="val 11429"/>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57" name="Card 3 - Badge"/>
          <p:cNvSpPr txBox="1"/>
          <p:nvPr/>
        </p:nvSpPr>
        <p:spPr>
          <a:xfrm>
            <a:off x="8366760" y="2999232"/>
            <a:ext cx="310896" cy="310896"/>
          </a:xfrm>
          <a:prstGeom prst="ellipse">
            <a:avLst/>
          </a:prstGeom>
          <a:solidFill>
            <a:schemeClr val="tx1"/>
          </a:solidFill>
          <a:ln w="12700">
            <a:solidFill>
              <a:schemeClr val="accent3"/>
            </a:solidFill>
          </a:ln>
        </p:spPr>
        <p:txBody>
          <a:bodyPr wrap="square" lIns="27432" tIns="18288" rIns="27432" bIns="18288" rtlCol="0" anchor="ctr"/>
          <a:lstStyle/>
          <a:p>
            <a:pPr algn="ctr" indent="0" marL="0">
              <a:spcBef>
                <a:spcPts val="0"/>
              </a:spcBef>
              <a:spcAft>
                <a:spcPts val="100"/>
              </a:spcAft>
              <a:buNone/>
            </a:pPr>
            <a:r>
              <a:rPr lang="en-US" sz="800" b="1" dirty="0">
                <a:solidFill>
                  <a:srgbClr val="697480"/>
                </a:solidFill>
                <a:latin typeface="Aptos"/>
              </a:rPr>
              <a:t>3</a:t>
            </a:r>
            <a:endParaRPr lang="en-US" sz="1200" dirty="0"/>
          </a:p>
        </p:txBody>
      </p:sp>
      <p:sp>
        <p:nvSpPr>
          <p:cNvPr id="58" name="Card 3 - Label"/>
          <p:cNvSpPr txBox="1"/>
          <p:nvPr/>
        </p:nvSpPr>
        <p:spPr>
          <a:xfrm>
            <a:off x="8823960" y="2907792"/>
            <a:ext cx="2743200" cy="201168"/>
          </a:xfrm>
          <a:prstGeom prst="rect">
            <a:avLst/>
          </a:prstGeom>
          <a:solidFill>
            <a:srgbClr val="FFFFFF"/>
          </a:solidFill>
          <a:ln w="10160">
            <a:solidFill>
              <a:srgbClr val="D2DAE1"/>
            </a:solidFill>
          </a:ln>
        </p:spPr>
        <p:txBody>
          <a:bodyPr wrap="square" lIns="27432" tIns="18288" rIns="27432" bIns="18288" rtlCol="0" anchor="ctr"/>
          <a:lstStyle/>
          <a:p>
            <a:pPr indent="0" marL="0" algn="l">
              <a:spcBef>
                <a:spcPts val="0"/>
              </a:spcBef>
              <a:spcAft>
                <a:spcPts val="100"/>
              </a:spcAft>
              <a:buNone/>
            </a:pPr>
            <a:r>
              <a:rPr lang="en-US" sz="950" b="1" dirty="0">
                <a:solidFill>
                  <a:srgbClr val="192D41"/>
                </a:solidFill>
                <a:latin typeface="Aptos"/>
              </a:rPr>
              <a:t>[KEY FINDING 3]</a:t>
            </a:r>
            <a:endParaRPr lang="en-US" sz="1100" dirty="0"/>
          </a:p>
        </p:txBody>
      </p:sp>
      <p:sp>
        <p:nvSpPr>
          <p:cNvPr id="59" name="Card 3 - Insight"/>
          <p:cNvSpPr txBox="1"/>
          <p:nvPr/>
        </p:nvSpPr>
        <p:spPr>
          <a:xfrm>
            <a:off x="8823960" y="3108960"/>
            <a:ext cx="2788920" cy="347472"/>
          </a:xfrm>
          <a:prstGeom prst="rect">
            <a:avLst/>
          </a:prstGeom>
          <a:noFill/>
          <a:ln/>
        </p:spPr>
        <p:txBody>
          <a:bodyPr wrap="square" lIns="27432" tIns="18288" rIns="27432" bIns="18288" rtlCol="0" anchor="t"/>
          <a:lstStyle/>
          <a:p>
            <a:pPr indent="0" marL="0" algn="l">
              <a:spcBef>
                <a:spcPts val="0"/>
              </a:spcBef>
              <a:spcAft>
                <a:spcPts val="100"/>
              </a:spcAft>
              <a:buNone/>
            </a:pPr>
            <a:r>
              <a:rPr lang="en-US" sz="850" dirty="0" b="0">
                <a:solidFill>
                  <a:srgbClr val="37414B"/>
                </a:solidFill>
                <a:latin typeface="Aptos"/>
              </a:rPr>
              <a:t>[One-sentence insight, max ~12 words]</a:t>
            </a:r>
            <a:endParaRPr lang="en-US" sz="1200" dirty="0"/>
          </a:p>
        </p:txBody>
      </p:sp>
      <p:sp>
        <p:nvSpPr>
          <p:cNvPr id="60" name="Card 4 - Key Statistic background"/>
          <p:cNvSpPr/>
          <p:nvPr/>
        </p:nvSpPr>
        <p:spPr>
          <a:xfrm>
            <a:off x="8229600" y="3657600"/>
            <a:ext cx="3502152" cy="1143000"/>
          </a:xfrm>
          <a:prstGeom prst="roundRect">
            <a:avLst>
              <a:gd name="adj" fmla="val 6400"/>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61" name="Card 4 - Label"/>
          <p:cNvSpPr txBox="1"/>
          <p:nvPr/>
        </p:nvSpPr>
        <p:spPr>
          <a:xfrm>
            <a:off x="8412480" y="3749040"/>
            <a:ext cx="310896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b="1" dirty="0">
                <a:solidFill>
                  <a:srgbClr val="2D7091"/>
                </a:solidFill>
                <a:latin typeface="Aptos"/>
              </a:rPr>
              <a:t>KEY STATISTIC</a:t>
            </a:r>
            <a:endParaRPr lang="en-US" sz="1000" dirty="0"/>
          </a:p>
        </p:txBody>
      </p:sp>
      <p:sp>
        <p:nvSpPr>
          <p:cNvPr id="62" name="Card 4 - Statistic"/>
          <p:cNvSpPr txBox="1"/>
          <p:nvPr/>
        </p:nvSpPr>
        <p:spPr>
          <a:xfrm>
            <a:off x="8412480" y="3950208"/>
            <a:ext cx="3108960" cy="548640"/>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b="0" dirty="0">
                <a:solidFill>
                  <a:srgbClr val="37414B"/>
                </a:solidFill>
                <a:latin typeface="Aptos"/>
              </a:rPr>
              <a:t>[STATISTIC]</a:t>
            </a:r>
            <a:endParaRPr lang="en-US" sz="3200" dirty="0"/>
          </a:p>
        </p:txBody>
      </p:sp>
      <p:sp>
        <p:nvSpPr>
          <p:cNvPr id="63" name="Card 4 - Description"/>
          <p:cNvSpPr txBox="1"/>
          <p:nvPr/>
        </p:nvSpPr>
        <p:spPr>
          <a:xfrm>
            <a:off x="8412480" y="4517136"/>
            <a:ext cx="3108960" cy="201168"/>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[WHAT IT MEASURES · UNIT]</a:t>
            </a:r>
            <a:endParaRPr lang="en-US" sz="1100" dirty="0"/>
          </a:p>
        </p:txBody>
      </p:sp>
      <p:sp>
        <p:nvSpPr>
          <p:cNvPr id="64" name="Stage 1 - Card"/>
          <p:cNvSpPr/>
          <p:nvPr/>
        </p:nvSpPr>
        <p:spPr>
          <a:xfrm>
            <a:off x="457200" y="4937760"/>
            <a:ext cx="1097280" cy="1097280"/>
          </a:xfrm>
          <a:prstGeom prst="roundRect">
            <a:avLst>
              <a:gd name="adj" fmla="val 6667"/>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65" name="Stage 1 - Icon circle"/>
          <p:cNvSpPr/>
          <p:nvPr/>
        </p:nvSpPr>
        <p:spPr>
          <a:xfrm>
            <a:off x="813816" y="5010912"/>
            <a:ext cx="384048" cy="384048"/>
          </a:xfrm>
          <a:prstGeom prst="ellipse">
            <a:avLst/>
          </a:prstGeom>
          <a:solidFill>
            <a:srgbClr val="FFFFFF"/>
          </a:solidFill>
          <a:ln w="7620">
            <a:solidFill>
              <a:srgbClr val="D2DAE1"/>
            </a:solidFill>
            <a:prstDash val="solid"/>
          </a:ln>
        </p:spPr>
        <p:txBody>
          <a:bodyPr wrap="square"/>
          <a:p>
            <a:pPr algn="l">
              <a:spcBef>
                <a:spcPts val="0"/>
              </a:spcBef>
              <a:spcAft>
                <a:spcPts val="200"/>
              </a:spcAft>
            </a:pPr>
          </a:p>
        </p:txBody>
      </p:sp>
      <p:pic>
        <p:nvPicPr>
          <p:cNvPr id="66" name="Stage 1 - Icon" descr="DATA icon">    </p:cNvPr>
          <p:cNvPicPr>
            <a:picLocks noChangeAspect="1"/>
          </p:cNvPicPr>
          <p:nvPr/>
        </p:nvPicPr>
        <p:blipFill>
          <a:blip r:embed="rId1"/>
          <a:stretch>
            <a:fillRect/>
          </a:stretch>
        </p:blipFill>
        <p:spPr>
          <a:xfrm>
            <a:off x="905256" y="5102352"/>
            <a:ext cx="201168" cy="201168"/>
          </a:xfrm>
          <a:prstGeom prst="rect">
            <a:avLst/>
          </a:prstGeom>
        </p:spPr>
      </p:pic>
      <p:sp>
        <p:nvSpPr>
          <p:cNvPr id="67" name="Stage 1 - Title"/>
          <p:cNvSpPr txBox="1"/>
          <p:nvPr/>
        </p:nvSpPr>
        <p:spPr>
          <a:xfrm>
            <a:off x="502920" y="5440680"/>
            <a:ext cx="1005840" cy="182880"/>
          </a:xfrm>
          <a:prstGeom prst="rect">
            <a:avLst/>
          </a:prstGeom>
          <a:noFill/>
          <a:ln/>
        </p:spPr>
        <p:txBody>
          <a:bodyPr wrap="square" lIns="27432" tIns="18288" rIns="27432" bIns="18288" rtlCol="0" anchor="ctr"/>
          <a:lstStyle/>
          <a:p>
            <a:pPr algn="l" indent="0" marL="0">
              <a:spcBef>
                <a:spcPts val="0"/>
              </a:spcBef>
              <a:spcAft>
                <a:spcPts val="100"/>
              </a:spcAft>
              <a:buNone/>
            </a:pPr>
            <a:r>
              <a:rPr lang="en-US" sz="850" b="1" dirty="0">
                <a:solidFill>
                  <a:srgbClr val="2D7091"/>
                </a:solidFill>
                <a:latin typeface="Aptos"/>
              </a:rPr>
              <a:t>DATA</a:t>
            </a:r>
            <a:endParaRPr lang="en-US" sz="1000" dirty="0"/>
          </a:p>
        </p:txBody>
      </p:sp>
      <p:sp>
        <p:nvSpPr>
          <p:cNvPr id="68" name="Stage 1 - Description"/>
          <p:cNvSpPr txBox="1"/>
          <p:nvPr/>
        </p:nvSpPr>
        <p:spPr>
          <a:xfrm>
            <a:off x="502920" y="5641848"/>
            <a:ext cx="1005840" cy="347472"/>
          </a:xfrm>
          <a:prstGeom prst="rect">
            <a:avLst/>
          </a:prstGeom>
          <a:noFill/>
          <a:ln/>
        </p:spPr>
        <p:txBody>
          <a:bodyPr wrap="square" lIns="27432" tIns="18288" rIns="27432" bIns="18288" rtlCol="0" anchor="t"/>
          <a:lstStyle/>
          <a:p>
            <a:pPr algn="l" indent="0" marL="0">
              <a:spcBef>
                <a:spcPts val="0"/>
              </a:spcBef>
              <a:spcAft>
                <a:spcPts val="100"/>
              </a:spcAft>
              <a:buNone/>
            </a:pPr>
            <a:r>
              <a:rPr lang="en-US" sz="850" dirty="0" b="0">
                <a:solidFill>
                  <a:srgbClr val="37414B"/>
                </a:solidFill>
                <a:latin typeface="Aptos"/>
              </a:rPr>
              <a:t>[SOURCES / FORMATS]</a:t>
            </a:r>
            <a:endParaRPr lang="en-US" sz="1000" dirty="0"/>
          </a:p>
        </p:txBody>
      </p:sp>
      <p:sp>
        <p:nvSpPr>
          <p:cNvPr id="69" name="Stage 1 - Arrow"/>
          <p:cNvSpPr/>
          <p:nvPr/>
        </p:nvSpPr>
        <p:spPr>
          <a:xfrm>
            <a:off x="1609344" y="5394960"/>
            <a:ext cx="91440" cy="182880"/>
          </a:xfrm>
          <a:prstGeom prst="chevron">
            <a:avLst/>
          </a:prstGeom>
          <a:solidFill>
            <a:srgbClr val="FFFFFF"/>
          </a:solidFill>
          <a:ln w="7620">
            <a:solidFill>
              <a:srgbClr val="D2DAE1"/>
            </a:solidFill>
          </a:ln>
        </p:spPr>
        <p:txBody>
          <a:bodyPr wrap="square"/>
          <a:p>
            <a:pPr algn="l">
              <a:spcBef>
                <a:spcPts val="0"/>
              </a:spcBef>
              <a:spcAft>
                <a:spcPts val="200"/>
              </a:spcAft>
            </a:pPr>
          </a:p>
        </p:txBody>
      </p:sp>
      <p:sp>
        <p:nvSpPr>
          <p:cNvPr id="70" name="Stage 2 - Card"/>
          <p:cNvSpPr/>
          <p:nvPr/>
        </p:nvSpPr>
        <p:spPr>
          <a:xfrm>
            <a:off x="1755648" y="4937760"/>
            <a:ext cx="1097280" cy="1097280"/>
          </a:xfrm>
          <a:prstGeom prst="roundRect">
            <a:avLst>
              <a:gd name="adj" fmla="val 6667"/>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71" name="Stage 2 - Icon circle"/>
          <p:cNvSpPr/>
          <p:nvPr/>
        </p:nvSpPr>
        <p:spPr>
          <a:xfrm>
            <a:off x="2112264" y="5010912"/>
            <a:ext cx="384048" cy="384048"/>
          </a:xfrm>
          <a:prstGeom prst="ellipse">
            <a:avLst/>
          </a:prstGeom>
          <a:solidFill>
            <a:srgbClr val="FFFFFF"/>
          </a:solidFill>
          <a:ln w="7620">
            <a:solidFill>
              <a:srgbClr val="D2DAE1"/>
            </a:solidFill>
            <a:prstDash val="solid"/>
          </a:ln>
        </p:spPr>
        <p:txBody>
          <a:bodyPr wrap="square"/>
          <a:p>
            <a:pPr algn="l">
              <a:spcBef>
                <a:spcPts val="0"/>
              </a:spcBef>
              <a:spcAft>
                <a:spcPts val="200"/>
              </a:spcAft>
            </a:pPr>
          </a:p>
        </p:txBody>
      </p:sp>
      <p:pic>
        <p:nvPicPr>
          <p:cNvPr id="72" name="Stage 2 - Icon" descr="PREPROCESSING icon">    </p:cNvPr>
          <p:cNvPicPr>
            <a:picLocks noChangeAspect="1"/>
          </p:cNvPicPr>
          <p:nvPr/>
        </p:nvPicPr>
        <p:blipFill>
          <a:blip r:embed="rId2"/>
          <a:stretch>
            <a:fillRect/>
          </a:stretch>
        </p:blipFill>
        <p:spPr>
          <a:xfrm>
            <a:off x="2203704" y="5102352"/>
            <a:ext cx="201168" cy="201168"/>
          </a:xfrm>
          <a:prstGeom prst="rect">
            <a:avLst/>
          </a:prstGeom>
        </p:spPr>
      </p:pic>
      <p:sp>
        <p:nvSpPr>
          <p:cNvPr id="73" name="Stage 2 - Title"/>
          <p:cNvSpPr txBox="1"/>
          <p:nvPr/>
        </p:nvSpPr>
        <p:spPr>
          <a:xfrm>
            <a:off x="1801368" y="5440680"/>
            <a:ext cx="1005840" cy="182880"/>
          </a:xfrm>
          <a:prstGeom prst="rect">
            <a:avLst/>
          </a:prstGeom>
          <a:noFill/>
          <a:ln/>
        </p:spPr>
        <p:txBody>
          <a:bodyPr wrap="square" lIns="27432" tIns="18288" rIns="27432" bIns="18288" rtlCol="0" anchor="ctr"/>
          <a:lstStyle/>
          <a:p>
            <a:pPr algn="l" indent="0" marL="0">
              <a:spcBef>
                <a:spcPts val="0"/>
              </a:spcBef>
              <a:spcAft>
                <a:spcPts val="100"/>
              </a:spcAft>
              <a:buNone/>
            </a:pPr>
            <a:r>
              <a:rPr lang="en-US" sz="850" b="1" dirty="0">
                <a:solidFill>
                  <a:srgbClr val="2D7091"/>
                </a:solidFill>
                <a:latin typeface="Aptos"/>
              </a:rPr>
              <a:t>PREPROCESSING</a:t>
            </a:r>
            <a:endParaRPr lang="en-US" sz="1000" dirty="0"/>
          </a:p>
        </p:txBody>
      </p:sp>
      <p:sp>
        <p:nvSpPr>
          <p:cNvPr id="74" name="Stage 2 - Description"/>
          <p:cNvSpPr txBox="1"/>
          <p:nvPr/>
        </p:nvSpPr>
        <p:spPr>
          <a:xfrm>
            <a:off x="1801368" y="5641848"/>
            <a:ext cx="1005840" cy="347472"/>
          </a:xfrm>
          <a:prstGeom prst="rect">
            <a:avLst/>
          </a:prstGeom>
          <a:noFill/>
          <a:ln/>
        </p:spPr>
        <p:txBody>
          <a:bodyPr wrap="square" lIns="27432" tIns="18288" rIns="27432" bIns="18288" rtlCol="0" anchor="t"/>
          <a:lstStyle/>
          <a:p>
            <a:pPr algn="l" indent="0" marL="0">
              <a:spcBef>
                <a:spcPts val="0"/>
              </a:spcBef>
              <a:spcAft>
                <a:spcPts val="100"/>
              </a:spcAft>
              <a:buNone/>
            </a:pPr>
            <a:r>
              <a:rPr lang="en-US" sz="850" dirty="0" b="0">
                <a:solidFill>
                  <a:srgbClr val="37414B"/>
                </a:solidFill>
                <a:latin typeface="Aptos"/>
              </a:rPr>
              <a:t>[CLEAN / ALIGN]</a:t>
            </a:r>
            <a:endParaRPr lang="en-US" sz="1000" dirty="0"/>
          </a:p>
        </p:txBody>
      </p:sp>
      <p:sp>
        <p:nvSpPr>
          <p:cNvPr id="75" name="Stage 2 - Arrow"/>
          <p:cNvSpPr/>
          <p:nvPr/>
        </p:nvSpPr>
        <p:spPr>
          <a:xfrm>
            <a:off x="2907792" y="5394960"/>
            <a:ext cx="91440" cy="182880"/>
          </a:xfrm>
          <a:prstGeom prst="chevron">
            <a:avLst/>
          </a:prstGeom>
          <a:solidFill>
            <a:srgbClr val="FFFFFF"/>
          </a:solidFill>
          <a:ln w="7620">
            <a:solidFill>
              <a:srgbClr val="D2DAE1"/>
            </a:solidFill>
          </a:ln>
        </p:spPr>
        <p:txBody>
          <a:bodyPr wrap="square"/>
          <a:p>
            <a:pPr algn="l">
              <a:spcBef>
                <a:spcPts val="0"/>
              </a:spcBef>
              <a:spcAft>
                <a:spcPts val="200"/>
              </a:spcAft>
            </a:pPr>
          </a:p>
        </p:txBody>
      </p:sp>
      <p:sp>
        <p:nvSpPr>
          <p:cNvPr id="76" name="Stage 3 - Card"/>
          <p:cNvSpPr/>
          <p:nvPr/>
        </p:nvSpPr>
        <p:spPr>
          <a:xfrm>
            <a:off x="3054096" y="4937760"/>
            <a:ext cx="1097280" cy="1097280"/>
          </a:xfrm>
          <a:prstGeom prst="roundRect">
            <a:avLst>
              <a:gd name="adj" fmla="val 6667"/>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77" name="Stage 3 - Icon circle"/>
          <p:cNvSpPr/>
          <p:nvPr/>
        </p:nvSpPr>
        <p:spPr>
          <a:xfrm>
            <a:off x="3410712" y="5010912"/>
            <a:ext cx="384048" cy="384048"/>
          </a:xfrm>
          <a:prstGeom prst="ellipse">
            <a:avLst/>
          </a:prstGeom>
          <a:solidFill>
            <a:srgbClr val="FFFFFF"/>
          </a:solidFill>
          <a:ln w="7620">
            <a:solidFill>
              <a:srgbClr val="D2DAE1"/>
            </a:solidFill>
            <a:prstDash val="solid"/>
          </a:ln>
        </p:spPr>
        <p:txBody>
          <a:bodyPr wrap="square"/>
          <a:p>
            <a:pPr algn="l">
              <a:spcBef>
                <a:spcPts val="0"/>
              </a:spcBef>
              <a:spcAft>
                <a:spcPts val="200"/>
              </a:spcAft>
            </a:pPr>
          </a:p>
        </p:txBody>
      </p:sp>
      <p:pic>
        <p:nvPicPr>
          <p:cNvPr id="78" name="Stage 3 - Icon" descr="FEATURES icon">    </p:cNvPr>
          <p:cNvPicPr>
            <a:picLocks noChangeAspect="1"/>
          </p:cNvPicPr>
          <p:nvPr/>
        </p:nvPicPr>
        <p:blipFill>
          <a:blip r:embed="rId3"/>
          <a:stretch>
            <a:fillRect/>
          </a:stretch>
        </p:blipFill>
        <p:spPr>
          <a:xfrm>
            <a:off x="3502152" y="5102352"/>
            <a:ext cx="201168" cy="201168"/>
          </a:xfrm>
          <a:prstGeom prst="rect">
            <a:avLst/>
          </a:prstGeom>
        </p:spPr>
      </p:pic>
      <p:sp>
        <p:nvSpPr>
          <p:cNvPr id="79" name="Stage 3 - Title"/>
          <p:cNvSpPr txBox="1"/>
          <p:nvPr/>
        </p:nvSpPr>
        <p:spPr>
          <a:xfrm>
            <a:off x="3099816" y="5440680"/>
            <a:ext cx="1005840" cy="182880"/>
          </a:xfrm>
          <a:prstGeom prst="rect">
            <a:avLst/>
          </a:prstGeom>
          <a:noFill/>
          <a:ln/>
        </p:spPr>
        <p:txBody>
          <a:bodyPr wrap="square" lIns="27432" tIns="18288" rIns="27432" bIns="18288" rtlCol="0" anchor="ctr"/>
          <a:lstStyle/>
          <a:p>
            <a:pPr algn="l" indent="0" marL="0">
              <a:spcBef>
                <a:spcPts val="0"/>
              </a:spcBef>
              <a:spcAft>
                <a:spcPts val="100"/>
              </a:spcAft>
              <a:buNone/>
            </a:pPr>
            <a:r>
              <a:rPr lang="en-US" sz="850" b="1" dirty="0">
                <a:solidFill>
                  <a:srgbClr val="2D7091"/>
                </a:solidFill>
                <a:latin typeface="Aptos"/>
              </a:rPr>
              <a:t>FEATURES</a:t>
            </a:r>
            <a:endParaRPr lang="en-US" sz="1000" dirty="0"/>
          </a:p>
        </p:txBody>
      </p:sp>
      <p:sp>
        <p:nvSpPr>
          <p:cNvPr id="80" name="Stage 3 - Description"/>
          <p:cNvSpPr txBox="1"/>
          <p:nvPr/>
        </p:nvSpPr>
        <p:spPr>
          <a:xfrm>
            <a:off x="3099816" y="5641848"/>
            <a:ext cx="1005840" cy="347472"/>
          </a:xfrm>
          <a:prstGeom prst="rect">
            <a:avLst/>
          </a:prstGeom>
          <a:noFill/>
          <a:ln/>
        </p:spPr>
        <p:txBody>
          <a:bodyPr wrap="square" lIns="27432" tIns="18288" rIns="27432" bIns="18288" rtlCol="0" anchor="t"/>
          <a:lstStyle/>
          <a:p>
            <a:pPr algn="l" indent="0" marL="0">
              <a:spcBef>
                <a:spcPts val="0"/>
              </a:spcBef>
              <a:spcAft>
                <a:spcPts val="100"/>
              </a:spcAft>
              <a:buNone/>
            </a:pPr>
            <a:r>
              <a:rPr lang="en-US" sz="850" dirty="0" b="0">
                <a:solidFill>
                  <a:srgbClr val="37414B"/>
                </a:solidFill>
                <a:latin typeface="Aptos"/>
              </a:rPr>
              <a:t>[LAYERS / INDICES]</a:t>
            </a:r>
            <a:endParaRPr lang="en-US" sz="1000" dirty="0"/>
          </a:p>
        </p:txBody>
      </p:sp>
      <p:sp>
        <p:nvSpPr>
          <p:cNvPr id="81" name="Stage 3 - Arrow"/>
          <p:cNvSpPr/>
          <p:nvPr/>
        </p:nvSpPr>
        <p:spPr>
          <a:xfrm>
            <a:off x="4206240" y="5394960"/>
            <a:ext cx="91440" cy="182880"/>
          </a:xfrm>
          <a:prstGeom prst="chevron">
            <a:avLst/>
          </a:prstGeom>
          <a:solidFill>
            <a:srgbClr val="FFFFFF"/>
          </a:solidFill>
          <a:ln w="7620">
            <a:solidFill>
              <a:srgbClr val="D2DAE1"/>
            </a:solidFill>
          </a:ln>
        </p:spPr>
        <p:txBody>
          <a:bodyPr wrap="square"/>
          <a:p>
            <a:pPr algn="l">
              <a:spcBef>
                <a:spcPts val="0"/>
              </a:spcBef>
              <a:spcAft>
                <a:spcPts val="200"/>
              </a:spcAft>
            </a:pPr>
          </a:p>
        </p:txBody>
      </p:sp>
      <p:sp>
        <p:nvSpPr>
          <p:cNvPr id="82" name="Stage 4 - Card"/>
          <p:cNvSpPr/>
          <p:nvPr/>
        </p:nvSpPr>
        <p:spPr>
          <a:xfrm>
            <a:off x="4352544" y="4937760"/>
            <a:ext cx="1097280" cy="1097280"/>
          </a:xfrm>
          <a:prstGeom prst="roundRect">
            <a:avLst>
              <a:gd name="adj" fmla="val 6667"/>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83" name="Stage 4 - Icon circle"/>
          <p:cNvSpPr/>
          <p:nvPr/>
        </p:nvSpPr>
        <p:spPr>
          <a:xfrm>
            <a:off x="4709160" y="5010912"/>
            <a:ext cx="384048" cy="384048"/>
          </a:xfrm>
          <a:prstGeom prst="ellipse">
            <a:avLst/>
          </a:prstGeom>
          <a:solidFill>
            <a:srgbClr val="FFFFFF"/>
          </a:solidFill>
          <a:ln w="7620">
            <a:solidFill>
              <a:srgbClr val="D2DAE1"/>
            </a:solidFill>
            <a:prstDash val="solid"/>
          </a:ln>
        </p:spPr>
        <p:txBody>
          <a:bodyPr wrap="square"/>
          <a:p>
            <a:pPr algn="l">
              <a:spcBef>
                <a:spcPts val="0"/>
              </a:spcBef>
              <a:spcAft>
                <a:spcPts val="200"/>
              </a:spcAft>
            </a:pPr>
          </a:p>
        </p:txBody>
      </p:sp>
      <p:pic>
        <p:nvPicPr>
          <p:cNvPr id="84" name="Stage 4 - Icon" descr="AI / ML icon">    </p:cNvPr>
          <p:cNvPicPr>
            <a:picLocks noChangeAspect="1"/>
          </p:cNvPicPr>
          <p:nvPr/>
        </p:nvPicPr>
        <p:blipFill>
          <a:blip r:embed="rId4"/>
          <a:stretch>
            <a:fillRect/>
          </a:stretch>
        </p:blipFill>
        <p:spPr>
          <a:xfrm>
            <a:off x="4800600" y="5102352"/>
            <a:ext cx="201168" cy="201168"/>
          </a:xfrm>
          <a:prstGeom prst="rect">
            <a:avLst/>
          </a:prstGeom>
        </p:spPr>
      </p:pic>
      <p:sp>
        <p:nvSpPr>
          <p:cNvPr id="85" name="Stage 4 - Title"/>
          <p:cNvSpPr txBox="1"/>
          <p:nvPr/>
        </p:nvSpPr>
        <p:spPr>
          <a:xfrm>
            <a:off x="4398264" y="5440680"/>
            <a:ext cx="1005840" cy="182880"/>
          </a:xfrm>
          <a:prstGeom prst="rect">
            <a:avLst/>
          </a:prstGeom>
          <a:noFill/>
          <a:ln/>
        </p:spPr>
        <p:txBody>
          <a:bodyPr wrap="square" lIns="27432" tIns="18288" rIns="27432" bIns="18288" rtlCol="0" anchor="ctr"/>
          <a:lstStyle/>
          <a:p>
            <a:pPr algn="l" indent="0" marL="0">
              <a:spcBef>
                <a:spcPts val="0"/>
              </a:spcBef>
              <a:spcAft>
                <a:spcPts val="100"/>
              </a:spcAft>
              <a:buNone/>
            </a:pPr>
            <a:r>
              <a:rPr lang="en-US" sz="850" b="1" dirty="0">
                <a:solidFill>
                  <a:srgbClr val="2D7091"/>
                </a:solidFill>
                <a:latin typeface="Aptos"/>
              </a:rPr>
              <a:t>AI / ML</a:t>
            </a:r>
            <a:endParaRPr lang="en-US" sz="1000" dirty="0"/>
          </a:p>
        </p:txBody>
      </p:sp>
      <p:sp>
        <p:nvSpPr>
          <p:cNvPr id="86" name="Stage 4 - Description"/>
          <p:cNvSpPr txBox="1"/>
          <p:nvPr/>
        </p:nvSpPr>
        <p:spPr>
          <a:xfrm>
            <a:off x="4398264" y="5641848"/>
            <a:ext cx="1005840" cy="347472"/>
          </a:xfrm>
          <a:prstGeom prst="rect">
            <a:avLst/>
          </a:prstGeom>
          <a:noFill/>
          <a:ln/>
        </p:spPr>
        <p:txBody>
          <a:bodyPr wrap="square" lIns="27432" tIns="18288" rIns="27432" bIns="18288" rtlCol="0" anchor="t"/>
          <a:lstStyle/>
          <a:p>
            <a:pPr algn="l" indent="0" marL="0">
              <a:spcBef>
                <a:spcPts val="0"/>
              </a:spcBef>
              <a:spcAft>
                <a:spcPts val="100"/>
              </a:spcAft>
              <a:buNone/>
            </a:pPr>
            <a:r>
              <a:rPr lang="en-US" sz="850" dirty="0" b="0">
                <a:solidFill>
                  <a:srgbClr val="37414B"/>
                </a:solidFill>
                <a:latin typeface="Aptos"/>
              </a:rPr>
              <a:t>[MODEL / METHOD]</a:t>
            </a:r>
            <a:endParaRPr lang="en-US" sz="1000" dirty="0"/>
          </a:p>
        </p:txBody>
      </p:sp>
      <p:sp>
        <p:nvSpPr>
          <p:cNvPr id="87" name="Stage 4 - Arrow"/>
          <p:cNvSpPr/>
          <p:nvPr/>
        </p:nvSpPr>
        <p:spPr>
          <a:xfrm>
            <a:off x="5504688" y="5394960"/>
            <a:ext cx="91440" cy="182880"/>
          </a:xfrm>
          <a:prstGeom prst="chevron">
            <a:avLst/>
          </a:prstGeom>
          <a:solidFill>
            <a:srgbClr val="FFFFFF"/>
          </a:solidFill>
          <a:ln w="7620">
            <a:solidFill>
              <a:srgbClr val="D2DAE1"/>
            </a:solidFill>
          </a:ln>
        </p:spPr>
        <p:txBody>
          <a:bodyPr wrap="square"/>
          <a:p>
            <a:pPr algn="l">
              <a:spcBef>
                <a:spcPts val="0"/>
              </a:spcBef>
              <a:spcAft>
                <a:spcPts val="200"/>
              </a:spcAft>
            </a:pPr>
          </a:p>
        </p:txBody>
      </p:sp>
      <p:sp>
        <p:nvSpPr>
          <p:cNvPr id="88" name="Stage 5 - Card"/>
          <p:cNvSpPr/>
          <p:nvPr/>
        </p:nvSpPr>
        <p:spPr>
          <a:xfrm>
            <a:off x="5650992" y="4937760"/>
            <a:ext cx="1097280" cy="1097280"/>
          </a:xfrm>
          <a:prstGeom prst="roundRect">
            <a:avLst>
              <a:gd name="adj" fmla="val 6667"/>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89" name="Stage 5 - Icon circle"/>
          <p:cNvSpPr/>
          <p:nvPr/>
        </p:nvSpPr>
        <p:spPr>
          <a:xfrm>
            <a:off x="6007608" y="5010912"/>
            <a:ext cx="384048" cy="384048"/>
          </a:xfrm>
          <a:prstGeom prst="ellipse">
            <a:avLst/>
          </a:prstGeom>
          <a:solidFill>
            <a:srgbClr val="FFFFFF"/>
          </a:solidFill>
          <a:ln w="7620">
            <a:solidFill>
              <a:srgbClr val="D2DAE1"/>
            </a:solidFill>
            <a:prstDash val="solid"/>
          </a:ln>
        </p:spPr>
        <p:txBody>
          <a:bodyPr wrap="square"/>
          <a:p>
            <a:pPr algn="l">
              <a:spcBef>
                <a:spcPts val="0"/>
              </a:spcBef>
              <a:spcAft>
                <a:spcPts val="200"/>
              </a:spcAft>
            </a:pPr>
          </a:p>
        </p:txBody>
      </p:sp>
      <p:pic>
        <p:nvPicPr>
          <p:cNvPr id="90" name="Stage 5 - Icon" descr="ANALYSIS icon">    </p:cNvPr>
          <p:cNvPicPr>
            <a:picLocks noChangeAspect="1"/>
          </p:cNvPicPr>
          <p:nvPr/>
        </p:nvPicPr>
        <p:blipFill>
          <a:blip r:embed="rId5"/>
          <a:stretch>
            <a:fillRect/>
          </a:stretch>
        </p:blipFill>
        <p:spPr>
          <a:xfrm>
            <a:off x="6099048" y="5102352"/>
            <a:ext cx="201168" cy="201168"/>
          </a:xfrm>
          <a:prstGeom prst="rect">
            <a:avLst/>
          </a:prstGeom>
        </p:spPr>
      </p:pic>
      <p:sp>
        <p:nvSpPr>
          <p:cNvPr id="91" name="Stage 5 - Title"/>
          <p:cNvSpPr txBox="1"/>
          <p:nvPr/>
        </p:nvSpPr>
        <p:spPr>
          <a:xfrm>
            <a:off x="5696712" y="5440680"/>
            <a:ext cx="1005840" cy="182880"/>
          </a:xfrm>
          <a:prstGeom prst="rect">
            <a:avLst/>
          </a:prstGeom>
          <a:noFill/>
          <a:ln/>
        </p:spPr>
        <p:txBody>
          <a:bodyPr wrap="square" lIns="27432" tIns="18288" rIns="27432" bIns="18288" rtlCol="0" anchor="ctr"/>
          <a:lstStyle/>
          <a:p>
            <a:pPr algn="l" indent="0" marL="0">
              <a:spcBef>
                <a:spcPts val="0"/>
              </a:spcBef>
              <a:spcAft>
                <a:spcPts val="100"/>
              </a:spcAft>
              <a:buNone/>
            </a:pPr>
            <a:r>
              <a:rPr lang="en-US" sz="850" b="1" dirty="0">
                <a:solidFill>
                  <a:srgbClr val="2D7091"/>
                </a:solidFill>
                <a:latin typeface="Aptos"/>
              </a:rPr>
              <a:t>ANALYSIS</a:t>
            </a:r>
            <a:endParaRPr lang="en-US" sz="1000" dirty="0"/>
          </a:p>
        </p:txBody>
      </p:sp>
      <p:sp>
        <p:nvSpPr>
          <p:cNvPr id="92" name="Stage 5 - Description"/>
          <p:cNvSpPr txBox="1"/>
          <p:nvPr/>
        </p:nvSpPr>
        <p:spPr>
          <a:xfrm>
            <a:off x="5696712" y="5641848"/>
            <a:ext cx="1005840" cy="347472"/>
          </a:xfrm>
          <a:prstGeom prst="rect">
            <a:avLst/>
          </a:prstGeom>
          <a:noFill/>
          <a:ln/>
        </p:spPr>
        <p:txBody>
          <a:bodyPr wrap="square" lIns="27432" tIns="18288" rIns="27432" bIns="18288" rtlCol="0" anchor="t"/>
          <a:lstStyle/>
          <a:p>
            <a:pPr algn="l" indent="0" marL="0">
              <a:spcBef>
                <a:spcPts val="0"/>
              </a:spcBef>
              <a:spcAft>
                <a:spcPts val="100"/>
              </a:spcAft>
              <a:buNone/>
            </a:pPr>
            <a:r>
              <a:rPr lang="en-US" sz="850" dirty="0" b="0">
                <a:solidFill>
                  <a:srgbClr val="37414B"/>
                </a:solidFill>
                <a:latin typeface="Aptos"/>
              </a:rPr>
              <a:t>[VALIDATE / INTERPRET]</a:t>
            </a:r>
            <a:endParaRPr lang="en-US" sz="1000" dirty="0"/>
          </a:p>
        </p:txBody>
      </p:sp>
      <p:sp>
        <p:nvSpPr>
          <p:cNvPr id="93" name="Stage 5 - Arrow"/>
          <p:cNvSpPr/>
          <p:nvPr/>
        </p:nvSpPr>
        <p:spPr>
          <a:xfrm>
            <a:off x="6803136" y="5394960"/>
            <a:ext cx="91440" cy="182880"/>
          </a:xfrm>
          <a:prstGeom prst="chevron">
            <a:avLst/>
          </a:prstGeom>
          <a:solidFill>
            <a:srgbClr val="FFFFFF"/>
          </a:solidFill>
          <a:ln w="7620">
            <a:solidFill>
              <a:srgbClr val="D2DAE1"/>
            </a:solidFill>
          </a:ln>
        </p:spPr>
        <p:txBody>
          <a:bodyPr wrap="square"/>
          <a:p>
            <a:pPr algn="l">
              <a:spcBef>
                <a:spcPts val="0"/>
              </a:spcBef>
              <a:spcAft>
                <a:spcPts val="200"/>
              </a:spcAft>
            </a:pPr>
          </a:p>
        </p:txBody>
      </p:sp>
      <p:sp>
        <p:nvSpPr>
          <p:cNvPr id="94" name="Stage 6 - Card"/>
          <p:cNvSpPr/>
          <p:nvPr/>
        </p:nvSpPr>
        <p:spPr>
          <a:xfrm>
            <a:off x="6949440" y="4937760"/>
            <a:ext cx="1097280" cy="1097280"/>
          </a:xfrm>
          <a:prstGeom prst="roundRect">
            <a:avLst>
              <a:gd name="adj" fmla="val 6667"/>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95" name="Stage 6 - Icon circle"/>
          <p:cNvSpPr/>
          <p:nvPr/>
        </p:nvSpPr>
        <p:spPr>
          <a:xfrm>
            <a:off x="7306056" y="5010912"/>
            <a:ext cx="384048" cy="384048"/>
          </a:xfrm>
          <a:prstGeom prst="ellipse">
            <a:avLst/>
          </a:prstGeom>
          <a:solidFill>
            <a:srgbClr val="FFFFFF"/>
          </a:solidFill>
          <a:ln w="7620">
            <a:solidFill>
              <a:srgbClr val="D2DAE1"/>
            </a:solidFill>
            <a:prstDash val="solid"/>
          </a:ln>
        </p:spPr>
        <p:txBody>
          <a:bodyPr wrap="square"/>
          <a:p>
            <a:pPr algn="l">
              <a:spcBef>
                <a:spcPts val="0"/>
              </a:spcBef>
              <a:spcAft>
                <a:spcPts val="200"/>
              </a:spcAft>
            </a:pPr>
          </a:p>
        </p:txBody>
      </p:sp>
      <p:pic>
        <p:nvPicPr>
          <p:cNvPr id="96" name="Stage 6 - Icon" descr="THEMATIC MAP icon">    </p:cNvPr>
          <p:cNvPicPr>
            <a:picLocks noChangeAspect="1"/>
          </p:cNvPicPr>
          <p:nvPr/>
        </p:nvPicPr>
        <p:blipFill>
          <a:blip r:embed="rId6"/>
          <a:stretch>
            <a:fillRect/>
          </a:stretch>
        </p:blipFill>
        <p:spPr>
          <a:xfrm>
            <a:off x="7397496" y="5102352"/>
            <a:ext cx="201168" cy="201168"/>
          </a:xfrm>
          <a:prstGeom prst="rect">
            <a:avLst/>
          </a:prstGeom>
        </p:spPr>
      </p:pic>
      <p:sp>
        <p:nvSpPr>
          <p:cNvPr id="97" name="Stage 6 - Title"/>
          <p:cNvSpPr txBox="1"/>
          <p:nvPr/>
        </p:nvSpPr>
        <p:spPr>
          <a:xfrm>
            <a:off x="6995160" y="5440680"/>
            <a:ext cx="1005840" cy="182880"/>
          </a:xfrm>
          <a:prstGeom prst="rect">
            <a:avLst/>
          </a:prstGeom>
          <a:noFill/>
          <a:ln/>
        </p:spPr>
        <p:txBody>
          <a:bodyPr wrap="square" lIns="27432" tIns="18288" rIns="27432" bIns="18288" rtlCol="0" anchor="ctr"/>
          <a:lstStyle/>
          <a:p>
            <a:pPr algn="l" indent="0" marL="0">
              <a:spcBef>
                <a:spcPts val="0"/>
              </a:spcBef>
              <a:spcAft>
                <a:spcPts val="100"/>
              </a:spcAft>
              <a:buNone/>
            </a:pPr>
            <a:r>
              <a:rPr lang="en-US" sz="850" b="1" dirty="0">
                <a:solidFill>
                  <a:srgbClr val="2D7091"/>
                </a:solidFill>
                <a:latin typeface="Aptos"/>
              </a:rPr>
              <a:t>THEMATIC MAP</a:t>
            </a:r>
            <a:endParaRPr lang="en-US" sz="1000" dirty="0"/>
          </a:p>
        </p:txBody>
      </p:sp>
      <p:sp>
        <p:nvSpPr>
          <p:cNvPr id="98" name="Stage 6 - Description"/>
          <p:cNvSpPr txBox="1"/>
          <p:nvPr/>
        </p:nvSpPr>
        <p:spPr>
          <a:xfrm>
            <a:off x="6995160" y="5641848"/>
            <a:ext cx="1005840" cy="347472"/>
          </a:xfrm>
          <a:prstGeom prst="rect">
            <a:avLst/>
          </a:prstGeom>
          <a:noFill/>
          <a:ln/>
        </p:spPr>
        <p:txBody>
          <a:bodyPr wrap="square" lIns="27432" tIns="18288" rIns="27432" bIns="18288" rtlCol="0" anchor="t"/>
          <a:lstStyle/>
          <a:p>
            <a:pPr algn="l" indent="0" marL="0">
              <a:spcBef>
                <a:spcPts val="0"/>
              </a:spcBef>
              <a:spcAft>
                <a:spcPts val="100"/>
              </a:spcAft>
              <a:buNone/>
            </a:pPr>
            <a:r>
              <a:rPr lang="en-US" sz="850" dirty="0" b="0">
                <a:solidFill>
                  <a:srgbClr val="37414B"/>
                </a:solidFill>
                <a:latin typeface="Aptos"/>
              </a:rPr>
              <a:t>[OUTPUT / PRODUCT]</a:t>
            </a:r>
            <a:endParaRPr lang="en-US" sz="1000" dirty="0"/>
          </a:p>
        </p:txBody>
      </p:sp>
      <p:sp>
        <p:nvSpPr>
          <p:cNvPr id="99" name="Result - Box background"/>
          <p:cNvSpPr/>
          <p:nvPr/>
        </p:nvSpPr>
        <p:spPr>
          <a:xfrm>
            <a:off x="8229600" y="4937760"/>
            <a:ext cx="3502152" cy="1097280"/>
          </a:xfrm>
          <a:prstGeom prst="roundRect">
            <a:avLst>
              <a:gd name="adj" fmla="val 6667"/>
            </a:avLst>
          </a:prstGeom>
          <a:solidFill>
            <a:srgbClr val="FFFFFF"/>
          </a:solidFill>
          <a:ln w="7620">
            <a:solidFill>
              <a:srgbClr val="D2DAE1"/>
            </a:solidFill>
            <a:prstDash val="solid"/>
          </a:ln>
        </p:spPr>
        <p:txBody>
          <a:bodyPr wrap="square"/>
          <a:p>
            <a:pPr algn="l">
              <a:spcBef>
                <a:spcPts val="0"/>
              </a:spcBef>
              <a:spcAft>
                <a:spcPts val="200"/>
              </a:spcAft>
            </a:pPr>
          </a:p>
        </p:txBody>
      </p:sp>
      <p:sp>
        <p:nvSpPr>
          <p:cNvPr id="100" name="Result - Label 1"/>
          <p:cNvSpPr txBox="1"/>
          <p:nvPr/>
        </p:nvSpPr>
        <p:spPr>
          <a:xfrm>
            <a:off x="8366760" y="5029200"/>
            <a:ext cx="1097280" cy="274320"/>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b="1" dirty="0">
                <a:solidFill>
                  <a:srgbClr val="2D7091"/>
                </a:solidFill>
                <a:latin typeface="Aptos"/>
              </a:rPr>
              <a:t>RESULT</a:t>
            </a:r>
            <a:endParaRPr lang="en-US" sz="1000" dirty="0"/>
          </a:p>
        </p:txBody>
      </p:sp>
      <p:sp>
        <p:nvSpPr>
          <p:cNvPr id="101" name="Result - Value 1"/>
          <p:cNvSpPr txBox="1"/>
          <p:nvPr/>
        </p:nvSpPr>
        <p:spPr>
          <a:xfrm>
            <a:off x="9464040" y="5029200"/>
            <a:ext cx="2148840" cy="274320"/>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[FINAL RESULT]</a:t>
            </a:r>
            <a:endParaRPr lang="en-US" sz="1200" dirty="0"/>
          </a:p>
        </p:txBody>
      </p:sp>
      <p:sp>
        <p:nvSpPr>
          <p:cNvPr id="102" name="Result - Label 2"/>
          <p:cNvSpPr txBox="1"/>
          <p:nvPr/>
        </p:nvSpPr>
        <p:spPr>
          <a:xfrm>
            <a:off x="8366760" y="5358384"/>
            <a:ext cx="1097280" cy="274320"/>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b="1" dirty="0">
                <a:solidFill>
                  <a:srgbClr val="2D7091"/>
                </a:solidFill>
                <a:latin typeface="Aptos"/>
              </a:rPr>
              <a:t>PERFORMANCE</a:t>
            </a:r>
            <a:endParaRPr lang="en-US" sz="1000" dirty="0"/>
          </a:p>
        </p:txBody>
      </p:sp>
      <p:sp>
        <p:nvSpPr>
          <p:cNvPr id="103" name="Result - Value 2"/>
          <p:cNvSpPr txBox="1"/>
          <p:nvPr/>
        </p:nvSpPr>
        <p:spPr>
          <a:xfrm>
            <a:off x="9464040" y="5358384"/>
            <a:ext cx="2148840" cy="274320"/>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[ACCURACY / PERFORMANCE]</a:t>
            </a:r>
            <a:endParaRPr lang="en-US" sz="1200" dirty="0"/>
          </a:p>
        </p:txBody>
      </p:sp>
      <p:sp>
        <p:nvSpPr>
          <p:cNvPr id="104" name="Result - Label 3"/>
          <p:cNvSpPr txBox="1"/>
          <p:nvPr/>
        </p:nvSpPr>
        <p:spPr>
          <a:xfrm>
            <a:off x="8366760" y="5687568"/>
            <a:ext cx="1097280" cy="274320"/>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b="1" dirty="0">
                <a:solidFill>
                  <a:srgbClr val="2D7091"/>
                </a:solidFill>
                <a:latin typeface="Aptos"/>
              </a:rPr>
              <a:t>IMPACT</a:t>
            </a:r>
            <a:endParaRPr lang="en-US" sz="1000" dirty="0"/>
          </a:p>
        </p:txBody>
      </p:sp>
      <p:sp>
        <p:nvSpPr>
          <p:cNvPr id="105" name="Result - Value 3"/>
          <p:cNvSpPr txBox="1"/>
          <p:nvPr/>
        </p:nvSpPr>
        <p:spPr>
          <a:xfrm>
            <a:off x="9464040" y="5687568"/>
            <a:ext cx="2148840" cy="274320"/>
          </a:xfrm>
          <a:prstGeom prst="rect">
            <a:avLst/>
          </a:prstGeom>
          <a:noFill/>
          <a:ln/>
        </p:spPr>
        <p:txBody>
          <a:bodyPr wrap="square" lIns="27432" tIns="18288" rIns="27432" bIns="18288" rtlCol="0" anchor="ctr"/>
          <a:lstStyle/>
          <a:p>
            <a:pPr indent="0" marL="0" algn="l">
              <a:spcBef>
                <a:spcPts val="0"/>
              </a:spcBef>
              <a:spcAft>
                <a:spcPts val="100"/>
              </a:spcAft>
              <a:buNone/>
            </a:pPr>
            <a:r>
              <a:rPr lang="en-US" sz="850" dirty="0" b="0">
                <a:solidFill>
                  <a:srgbClr val="37414B"/>
                </a:solidFill>
                <a:latin typeface="Aptos"/>
              </a:rPr>
              <a:t>[PRACTICAL IMPACT]</a:t>
            </a:r>
            <a:endParaRPr lang="en-US" sz="1200" dirty="0"/>
          </a:p>
        </p:txBody>
      </p:sp>
      <p:sp>
        <p:nvSpPr>
          <p:cNvPr id="106" name="Footer - DATA SOURCES"/>
          <p:cNvSpPr txBox="1"/>
          <p:nvPr/>
        </p:nvSpPr>
        <p:spPr>
          <a:xfrm>
            <a:off x="457200" y="6199632"/>
            <a:ext cx="2286000" cy="365760"/>
          </a:xfrm>
          <a:prstGeom prst="rect">
            <a:avLst/>
          </a:prstGeom>
          <a:noFill/>
          <a:ln/>
        </p:spPr>
        <p:txBody>
          <a:bodyPr wrap="square" lIns="0" tIns="0" rIns="0" bIns="0" rtlCol="0" anchor="t"/>
          <a:lstStyle/>
          <a:p>
            <a:pPr indent="0" marL="0" algn="l">
              <a:spcBef>
                <a:spcPts val="0"/>
              </a:spcBef>
              <a:spcAft>
                <a:spcPts val="200"/>
              </a:spcAft>
              <a:buNone/>
            </a:pPr>
            <a:r>
              <a:rPr lang="en-US" sz="1000" b="1" dirty="0">
                <a:solidFill>
                  <a:srgbClr val="37414B"/>
                </a:solidFill>
                <a:latin typeface="Aptos"/>
              </a:rPr>
              <a:t>DATA SOURCES</a:t>
            </a:r>
            <a:endParaRPr lang="en-US" sz="1000" dirty="0"/>
          </a:p>
          <a:p>
            <a:pPr indent="0" marL="0" algn="l">
              <a:spcBef>
                <a:spcPts val="0"/>
              </a:spcBef>
              <a:spcAft>
                <a:spcPts val="200"/>
              </a:spcAft>
              <a:buNone/>
            </a:pPr>
            <a:r>
              <a:rPr lang="en-US" sz="1000" dirty="0">
                <a:solidFill>
                  <a:srgbClr val="37414B"/>
                </a:solidFill>
                <a:latin typeface="Aptos"/>
              </a:rPr>
              <a:t>[DATASETS · PROVIDERS · YEAR]</a:t>
            </a:r>
            <a:endParaRPr lang="en-US" sz="1000" dirty="0"/>
          </a:p>
        </p:txBody>
      </p:sp>
      <p:sp>
        <p:nvSpPr>
          <p:cNvPr id="107" name="Footer - SOFTWARE / TOOLS"/>
          <p:cNvSpPr txBox="1"/>
          <p:nvPr/>
        </p:nvSpPr>
        <p:spPr>
          <a:xfrm>
            <a:off x="2834640" y="6199632"/>
            <a:ext cx="2103120" cy="365760"/>
          </a:xfrm>
          <a:prstGeom prst="rect">
            <a:avLst/>
          </a:prstGeom>
          <a:noFill/>
          <a:ln/>
        </p:spPr>
        <p:txBody>
          <a:bodyPr wrap="square" lIns="0" tIns="0" rIns="0" bIns="0" rtlCol="0" anchor="t"/>
          <a:lstStyle/>
          <a:p>
            <a:pPr indent="0" marL="0" algn="l">
              <a:spcBef>
                <a:spcPts val="0"/>
              </a:spcBef>
              <a:spcAft>
                <a:spcPts val="200"/>
              </a:spcAft>
              <a:buNone/>
            </a:pPr>
            <a:r>
              <a:rPr lang="en-US" sz="1000" b="1" dirty="0">
                <a:solidFill>
                  <a:srgbClr val="37414B"/>
                </a:solidFill>
                <a:latin typeface="Aptos"/>
              </a:rPr>
              <a:t>SOFTWARE / TOOLS</a:t>
            </a:r>
            <a:endParaRPr lang="en-US" sz="1000" dirty="0"/>
          </a:p>
          <a:p>
            <a:pPr indent="0" marL="0" algn="l">
              <a:spcBef>
                <a:spcPts val="0"/>
              </a:spcBef>
              <a:spcAft>
                <a:spcPts val="200"/>
              </a:spcAft>
              <a:buNone/>
            </a:pPr>
            <a:r>
              <a:rPr lang="en-US" sz="1000" dirty="0">
                <a:solidFill>
                  <a:srgbClr val="37414B"/>
                </a:solidFill>
                <a:latin typeface="Aptos"/>
              </a:rPr>
              <a:t>[QGIS · PYTHON · ML LIBRARIES]</a:t>
            </a:r>
            <a:endParaRPr lang="en-US" sz="1000" dirty="0"/>
          </a:p>
        </p:txBody>
      </p:sp>
      <p:sp>
        <p:nvSpPr>
          <p:cNvPr id="108" name="Footer - CRS / RESOLUTION"/>
          <p:cNvSpPr txBox="1"/>
          <p:nvPr/>
        </p:nvSpPr>
        <p:spPr>
          <a:xfrm>
            <a:off x="5029200" y="6199632"/>
            <a:ext cx="1920240" cy="365760"/>
          </a:xfrm>
          <a:prstGeom prst="rect">
            <a:avLst/>
          </a:prstGeom>
          <a:noFill/>
          <a:ln/>
        </p:spPr>
        <p:txBody>
          <a:bodyPr wrap="square" lIns="0" tIns="0" rIns="0" bIns="0" rtlCol="0" anchor="t"/>
          <a:lstStyle/>
          <a:p>
            <a:pPr indent="0" marL="0" algn="l">
              <a:spcBef>
                <a:spcPts val="0"/>
              </a:spcBef>
              <a:spcAft>
                <a:spcPts val="200"/>
              </a:spcAft>
              <a:buNone/>
            </a:pPr>
            <a:r>
              <a:rPr lang="en-US" sz="1000" b="1" dirty="0">
                <a:solidFill>
                  <a:srgbClr val="37414B"/>
                </a:solidFill>
                <a:latin typeface="Aptos"/>
              </a:rPr>
              <a:t>CRS / RESOLUTION</a:t>
            </a:r>
            <a:endParaRPr lang="en-US" sz="1000" dirty="0"/>
          </a:p>
          <a:p>
            <a:pPr indent="0" marL="0" algn="l">
              <a:spcBef>
                <a:spcPts val="0"/>
              </a:spcBef>
              <a:spcAft>
                <a:spcPts val="200"/>
              </a:spcAft>
              <a:buNone/>
            </a:pPr>
            <a:r>
              <a:rPr lang="en-US" sz="1000" dirty="0">
                <a:solidFill>
                  <a:srgbClr val="37414B"/>
                </a:solidFill>
                <a:latin typeface="Aptos"/>
              </a:rPr>
              <a:t>[EPSG:XXXX · XX m]</a:t>
            </a:r>
            <a:endParaRPr lang="en-US" sz="1000" dirty="0"/>
          </a:p>
        </p:txBody>
      </p:sp>
      <p:sp>
        <p:nvSpPr>
          <p:cNvPr id="109" name="Footer - TEAM"/>
          <p:cNvSpPr txBox="1"/>
          <p:nvPr/>
        </p:nvSpPr>
        <p:spPr>
          <a:xfrm>
            <a:off x="7040880" y="6199632"/>
            <a:ext cx="2286000" cy="365760"/>
          </a:xfrm>
          <a:prstGeom prst="rect">
            <a:avLst/>
          </a:prstGeom>
          <a:noFill/>
          <a:ln/>
        </p:spPr>
        <p:txBody>
          <a:bodyPr wrap="square" lIns="0" tIns="0" rIns="0" bIns="0" rtlCol="0" anchor="t"/>
          <a:lstStyle/>
          <a:p>
            <a:pPr indent="0" marL="0" algn="l">
              <a:spcBef>
                <a:spcPts val="0"/>
              </a:spcBef>
              <a:spcAft>
                <a:spcPts val="200"/>
              </a:spcAft>
              <a:buNone/>
            </a:pPr>
            <a:r>
              <a:rPr lang="en-US" sz="1000" b="1" dirty="0">
                <a:solidFill>
                  <a:srgbClr val="37414B"/>
                </a:solidFill>
                <a:latin typeface="Aptos"/>
              </a:rPr>
              <a:t>TEAM</a:t>
            </a:r>
            <a:endParaRPr lang="en-US" sz="1000" dirty="0"/>
          </a:p>
          <a:p>
            <a:pPr indent="0" marL="0" algn="l">
              <a:spcBef>
                <a:spcPts val="0"/>
              </a:spcBef>
              <a:spcAft>
                <a:spcPts val="200"/>
              </a:spcAft>
              <a:buNone/>
            </a:pPr>
            <a:r>
              <a:rPr lang="en-US" sz="1000" dirty="0">
                <a:solidFill>
                  <a:srgbClr val="37414B"/>
                </a:solidFill>
                <a:latin typeface="Aptos"/>
              </a:rPr>
              <a:t>[MEMBER 1 · MEMBER 2 · MEMBER 3]</a:t>
            </a:r>
            <a:endParaRPr lang="en-US" sz="1000" dirty="0"/>
          </a:p>
        </p:txBody>
      </p:sp>
      <p:sp>
        <p:nvSpPr>
          <p:cNvPr id="110" name="Footer - INSTITUTION / EVENT"/>
          <p:cNvSpPr txBox="1"/>
          <p:nvPr/>
        </p:nvSpPr>
        <p:spPr>
          <a:xfrm>
            <a:off x="9418320" y="6199632"/>
            <a:ext cx="2221992" cy="365760"/>
          </a:xfrm>
          <a:prstGeom prst="rect">
            <a:avLst/>
          </a:prstGeom>
          <a:noFill/>
          <a:ln/>
        </p:spPr>
        <p:txBody>
          <a:bodyPr wrap="square" lIns="0" tIns="0" rIns="0" bIns="0" rtlCol="0" anchor="t"/>
          <a:lstStyle/>
          <a:p>
            <a:pPr indent="0" marL="0" algn="l">
              <a:spcBef>
                <a:spcPts val="0"/>
              </a:spcBef>
              <a:spcAft>
                <a:spcPts val="200"/>
              </a:spcAft>
              <a:buNone/>
            </a:pPr>
            <a:r>
              <a:rPr lang="en-US" sz="1000" b="1" dirty="0">
                <a:solidFill>
                  <a:srgbClr val="37414B"/>
                </a:solidFill>
                <a:latin typeface="Aptos"/>
              </a:rPr>
              <a:t>INSTITUTION / EVENT</a:t>
            </a:r>
            <a:endParaRPr lang="en-US" sz="1000" dirty="0"/>
          </a:p>
          <a:p>
            <a:pPr indent="0" marL="0" algn="l">
              <a:spcBef>
                <a:spcPts val="0"/>
              </a:spcBef>
              <a:spcAft>
                <a:spcPts val="200"/>
              </a:spcAft>
              <a:buNone/>
            </a:pPr>
            <a:r>
              <a:rPr lang="en-US" sz="1000" dirty="0">
                <a:solidFill>
                  <a:srgbClr val="37414B"/>
                </a:solidFill>
                <a:latin typeface="Aptos"/>
              </a:rPr>
              <a:t>[INSTITUTION · EVENT NAME]</a:t>
            </a:r>
            <a:endParaRPr lang="en-US" sz="1000" dirty="0"/>
          </a:p>
        </p:txBody>
      </p:sp>
    </p:spTree>
  </p:cSld>
  <p:clrMapOvr>
    <a:masterClrMapping/>
  </p:clrMapOvr>
</p:sld>
</file>

<file path=ppt/theme/theme1.xml><?xml version="1.0" encoding="utf-8"?>
<a:theme xmlns:a="http://schemas.openxmlformats.org/drawingml/2006/main" name="GeoIntel Navy">
  <a:themeElements>
    <a:clrScheme name="GeoIntel Navy">
      <a:dk1>
        <a:srgbClr val="0B1220"/>
      </a:dk1>
      <a:lt1>
        <a:srgbClr val="FFFFFF"/>
      </a:lt1>
      <a:dk2>
        <a:srgbClr val="111B2E"/>
      </a:dk2>
      <a:lt2>
        <a:srgbClr val="B6C2D6"/>
      </a:lt2>
      <a:accent1>
        <a:srgbClr val="22D3EE"/>
      </a:accent1>
      <a:accent2>
        <a:srgbClr val="34D399"/>
      </a:accent2>
      <a:accent3>
        <a:srgbClr val="F59E0B"/>
      </a:accent3>
      <a:accent4>
        <a:srgbClr val="F43F5E"/>
      </a:accent4>
      <a:accent5>
        <a:srgbClr val="818CF8"/>
      </a:accent5>
      <a:accent6>
        <a:srgbClr val="64748B"/>
      </a:accent6>
      <a:hlink>
        <a:srgbClr val="22D3EE"/>
      </a:hlink>
      <a:folHlink>
        <a:srgbClr val="818CF8"/>
      </a:folHlink>
    </a:clrScheme>
    <a:fontScheme name="GeoIntel Nav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GIS + AI/ML Mapathon - One-Slide Template</dc:title>
  <dc:subject>PptxGenJS Presentation</dc:subject>
  <dc:creator>[TEAM NAME]</dc:creator>
  <cp:lastModifiedBy>[TEAM NAME]</cp:lastModifiedBy>
  <cp:revision>1</cp:revision>
  <dcterms:created xsi:type="dcterms:W3CDTF">2026-10-05T01:54:05Z</dcterms:created>
  <dcterms:modified xsi:type="dcterms:W3CDTF">2026-10-05T01:54:05Z</dcterms:modified>
</cp:coreProperties>
</file>