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pathon" id="{f75125dd-8ae7-a3f0-5362-770b0f2f507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[MAPATHON NAME]  ·  [TEAM NAME]  ·  [INSTITUTION]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0"/>
            <a:ext cx="0" cy="685800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6960" y="0"/>
            <a:ext cx="0" cy="685800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0" y="0"/>
            <a:ext cx="0" cy="685800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0"/>
            <a:ext cx="3840480" cy="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859536"/>
            <a:ext cx="3840480" cy="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0" y="1719072"/>
            <a:ext cx="3840480" cy="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2578608"/>
            <a:ext cx="3840480" cy="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3438144"/>
            <a:ext cx="3840480" cy="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4297680"/>
            <a:ext cx="3840480" cy="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5157216"/>
            <a:ext cx="3840480" cy="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6016752"/>
            <a:ext cx="3840480" cy="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6876288"/>
            <a:ext cx="3840480" cy="0"/>
          </a:xfrm>
          <a:prstGeom prst="line">
            <a:avLst/>
          </a:prstGeom>
          <a:noFill/>
          <a:ln w="6350">
            <a:solidFill>
              <a:schemeClr val="accent6">
                <a:alpha val="20000"/>
              </a:scheme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35440" y="2697480"/>
            <a:ext cx="1463040" cy="1463040"/>
          </a:xfrm>
          <a:prstGeom prst="ellipse">
            <a:avLst/>
          </a:prstGeom>
          <a:noFill/>
          <a:ln w="12700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32520" y="2194560"/>
            <a:ext cx="2468880" cy="2468880"/>
          </a:xfrm>
          <a:prstGeom prst="ellipse">
            <a:avLst/>
          </a:prstGeom>
          <a:noFill/>
          <a:ln w="12700">
            <a:solidFill>
              <a:schemeClr val="accent1">
                <a:alpha val="58000"/>
              </a:scheme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1691640"/>
            <a:ext cx="3474720" cy="3474720"/>
          </a:xfrm>
          <a:prstGeom prst="ellipse">
            <a:avLst/>
          </a:prstGeom>
          <a:noFill/>
          <a:ln w="12700">
            <a:solidFill>
              <a:schemeClr val="accent1">
                <a:alpha val="46000"/>
              </a:scheme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1188720"/>
            <a:ext cx="4480560" cy="4480560"/>
          </a:xfrm>
          <a:prstGeom prst="ellipse">
            <a:avLst/>
          </a:prstGeom>
          <a:noFill/>
          <a:ln w="12700">
            <a:solidFill>
              <a:schemeClr val="accent1">
                <a:alpha val="34000"/>
              </a:scheme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0" y="685800"/>
            <a:ext cx="5486400" cy="5486400"/>
          </a:xfrm>
          <a:prstGeom prst="ellipse">
            <a:avLst/>
          </a:prstGeom>
          <a:noFill/>
          <a:ln w="12700">
            <a:solidFill>
              <a:schemeClr val="accent1">
                <a:alpha val="22000"/>
              </a:scheme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57232" y="3319272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12801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GIS + AI/ML MAPATHON  ·  [MAPATHON NAME]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937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TEAM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212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[TEAM NAME]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017520" y="4937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INSTITUTION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017520" y="5212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[INSTITUTION]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394960" y="4937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EVENT / DATE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394960" y="5212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[VENUE · DATE]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Problem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53212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54305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173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PROBLEM DESCRIPTION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7373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[PROBLEM DESCRIPTION]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72200" y="1188720"/>
            <a:ext cx="553212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530" y="15430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86600" y="14173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086600" y="17373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[WHY IT MATTERS]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57200" y="2697480"/>
            <a:ext cx="553212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2926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305181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29260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WHO IS AFFECTED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32461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[WHO IS AFFECTED]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172200" y="2697480"/>
            <a:ext cx="553212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0" y="2926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530" y="305181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86600" y="29260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CURRENT LIMITATION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7086600" y="32461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[CURRENT LIMITATION]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457200" y="4343400"/>
            <a:ext cx="347472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48640" y="44531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CURRENT CHALLENGE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489204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[DESCRIBE THE CHALLENGE]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3931920" y="4343400"/>
            <a:ext cx="411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27" name="Shape 21"/>
          <p:cNvSpPr/>
          <p:nvPr/>
        </p:nvSpPr>
        <p:spPr>
          <a:xfrm>
            <a:off x="4343400" y="4343400"/>
            <a:ext cx="347472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44531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DATA GAP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4434840" y="489204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[WHAT SPATIAL DATA IS MISSING]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7818120" y="4343400"/>
            <a:ext cx="411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31" name="Shape 25"/>
          <p:cNvSpPr/>
          <p:nvPr/>
        </p:nvSpPr>
        <p:spPr>
          <a:xfrm>
            <a:off x="8229600" y="4343400"/>
            <a:ext cx="347472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8321040" y="44531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NEED FOR SPATIAL SOLUTION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8321040" y="489204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[WHAT GIS + AI WILL DELIVER]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Study Area &amp; Geographic Context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589520" cy="4937760"/>
          </a:xfrm>
          <a:prstGeom prst="rect">
            <a:avLst>
              <a:gd name="adj" fmla="val 148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22120" y="1188720"/>
            <a:ext cx="0" cy="493776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75895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87040" y="1188720"/>
            <a:ext cx="0" cy="493776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834640"/>
            <a:ext cx="75895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51960" y="1188720"/>
            <a:ext cx="0" cy="493776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657600"/>
            <a:ext cx="75895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16880" y="1188720"/>
            <a:ext cx="0" cy="493776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81800" y="1188720"/>
            <a:ext cx="0" cy="493776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5303520"/>
            <a:ext cx="75895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56360" y="12344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[LON °E]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12344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[LON °E]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16040" y="12344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[LON °E]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19202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[LAT °N]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5661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[LAT °N]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2120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[LAT °N]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325880" y="1645920"/>
            <a:ext cx="274320" cy="365760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325880" y="20299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52160" y="5623560"/>
            <a:ext cx="731520" cy="91440"/>
          </a:xfrm>
          <a:prstGeom prst="rect">
            <a:avLst>
              <a:gd name="adj" fmla="val 80000"/>
            </a:avLst>
          </a:prstGeom>
          <a:solidFill>
            <a:schemeClr val="tx1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5623560"/>
            <a:ext cx="731520" cy="91440"/>
          </a:xfrm>
          <a:prstGeom prst="rect">
            <a:avLst>
              <a:gd name="adj" fmla="val 80000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77840" y="57515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0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57515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[X]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57515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[2X] km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216152" y="1880006"/>
            <a:ext cx="6071616" cy="3555187"/>
          </a:xfrm>
          <a:prstGeom prst="rect">
            <a:avLst>
              <a:gd name="adj" fmla="val 2058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ysDash"/>
          </a:ln>
        </p:spPr>
      </p:sp>
      <p:sp>
        <p:nvSpPr>
          <p:cNvPr id="28" name="Text 26"/>
          <p:cNvSpPr txBox="1"/>
          <p:nvPr/>
        </p:nvSpPr>
        <p:spPr>
          <a:xfrm>
            <a:off x="1307592" y="192572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[ADMIN BOUNDARY]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23314" y="2373782"/>
            <a:ext cx="4857293" cy="2567635"/>
          </a:xfrm>
          <a:prstGeom prst="rect">
            <a:avLst>
              <a:gd name="adj" fmla="val 2849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1914754" y="241950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</a:rPr>
              <a:t>[STUDY AREA]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4747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[MAP PLACEHOLDER · insert map image]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080760" y="1508760"/>
            <a:ext cx="173736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72200" y="15819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INSET · [LOCATION MAP]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75704" y="2043684"/>
            <a:ext cx="434340" cy="297180"/>
          </a:xfrm>
          <a:prstGeom prst="rect">
            <a:avLst>
              <a:gd name="adj" fmla="val 24615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080760" y="243596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[REGION / COUNTRY]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25880" y="4343400"/>
            <a:ext cx="228600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463040" y="4434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tx1"/>
                </a:solidFill>
              </a:rPr>
              <a:t>LEGEND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463040" y="4709160"/>
            <a:ext cx="201168" cy="164592"/>
          </a:xfrm>
          <a:prstGeom prst="rect">
            <a:avLst>
              <a:gd name="adj" fmla="val 44444"/>
            </a:avLst>
          </a:prstGeom>
          <a:solidFill>
            <a:schemeClr val="accent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755648" y="46908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Study area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463040" y="4983480"/>
            <a:ext cx="201168" cy="164592"/>
          </a:xfrm>
          <a:prstGeom prst="rect">
            <a:avLst>
              <a:gd name="adj" fmla="val 44444"/>
            </a:avLst>
          </a:prstGeom>
          <a:solidFill>
            <a:schemeClr val="accent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755648" y="4965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Administrative boundary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463040" y="5257800"/>
            <a:ext cx="201168" cy="164592"/>
          </a:xfrm>
          <a:prstGeom prst="rect">
            <a:avLst>
              <a:gd name="adj" fmla="val 44444"/>
            </a:avLst>
          </a:prstGeom>
          <a:solidFill>
            <a:schemeClr val="accent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755648" y="52395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Water bodies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463040" y="5532120"/>
            <a:ext cx="201168" cy="164592"/>
          </a:xfrm>
          <a:prstGeom prst="rect">
            <a:avLst>
              <a:gd name="adj" fmla="val 44444"/>
            </a:avLst>
          </a:prstGeom>
          <a:solidFill>
            <a:schemeClr val="accent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755648" y="55138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Roads / key features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29600" y="1188720"/>
            <a:ext cx="3502152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412480" y="132588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AREA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412480" y="164592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[VALUE]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8229600" y="2468880"/>
            <a:ext cx="3502152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412480" y="260604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2"/>
                </a:solidFill>
              </a:rPr>
              <a:t>POPULATION / COVERAGE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412480" y="292608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[VALUE]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8229600" y="3749040"/>
            <a:ext cx="3502152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412480" y="388620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3"/>
                </a:solidFill>
              </a:rPr>
              <a:t>GEOGRAPHIC EXTENT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8412480" y="420624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[VALUE]</a:t>
            </a:r>
            <a:endParaRPr lang="en-US" sz="2200" dirty="0"/>
          </a:p>
        </p:txBody>
      </p:sp>
      <p:sp>
        <p:nvSpPr>
          <p:cNvPr id="55" name="Shape 53"/>
          <p:cNvSpPr/>
          <p:nvPr/>
        </p:nvSpPr>
        <p:spPr>
          <a:xfrm>
            <a:off x="8229600" y="5029200"/>
            <a:ext cx="3502152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412480" y="516636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4"/>
                </a:solidFill>
              </a:rPr>
              <a:t>KEY CHARACTERISTICS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8412480" y="5486400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[VALUE]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Data Sources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103120" cy="388620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973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SATELLITE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68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DATASET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6700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[DATASET]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1089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DATE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310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[DATE]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749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RESOLUTION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9502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[RESOLUTION]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3891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PURPOSE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590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[PURPOSE]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2743200" y="1188720"/>
            <a:ext cx="2103120" cy="388620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260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10" y="1497330"/>
            <a:ext cx="251460" cy="2514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92608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FIELD DATA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2926080" y="2468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DATASET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2926080" y="26700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[DATASET]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2926080" y="31089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DATE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2926080" y="3310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[DATE]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2926080" y="3749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RESOLUTION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2926080" y="39502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[RESOLUTION]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2926080" y="43891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PURPOSE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2926080" y="4590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[PURPOSE]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484632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29" name="Shape 25"/>
          <p:cNvSpPr/>
          <p:nvPr/>
        </p:nvSpPr>
        <p:spPr>
          <a:xfrm>
            <a:off x="5029200" y="1188720"/>
            <a:ext cx="2103120" cy="388620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2120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7810" y="1497330"/>
            <a:ext cx="251460" cy="25146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521208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OPEN GIS DATA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5212080" y="2468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DATASET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5212080" y="26700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[DATASET]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5212080" y="31089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DATE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5212080" y="3310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[DATE]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5212080" y="3749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RESOLUTION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5212080" y="39502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[RESOLUTION]</a:t>
            </a:r>
            <a:endParaRPr lang="en-US" sz="1300" dirty="0"/>
          </a:p>
        </p:txBody>
      </p:sp>
      <p:sp>
        <p:nvSpPr>
          <p:cNvPr id="39" name="Text 34"/>
          <p:cNvSpPr txBox="1"/>
          <p:nvPr/>
        </p:nvSpPr>
        <p:spPr>
          <a:xfrm>
            <a:off x="5212080" y="43891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PURPOSE</a:t>
            </a:r>
            <a:endParaRPr lang="en-US" sz="1000" dirty="0"/>
          </a:p>
        </p:txBody>
      </p:sp>
      <p:sp>
        <p:nvSpPr>
          <p:cNvPr id="40" name="Text 35"/>
          <p:cNvSpPr txBox="1"/>
          <p:nvPr/>
        </p:nvSpPr>
        <p:spPr>
          <a:xfrm>
            <a:off x="5212080" y="4590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[PURPOSE]</a:t>
            </a:r>
            <a:endParaRPr lang="en-US" sz="1300" dirty="0"/>
          </a:p>
        </p:txBody>
      </p:sp>
      <p:sp>
        <p:nvSpPr>
          <p:cNvPr id="41" name="Text 36"/>
          <p:cNvSpPr txBox="1"/>
          <p:nvPr/>
        </p:nvSpPr>
        <p:spPr>
          <a:xfrm>
            <a:off x="713232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42" name="Shape 37"/>
          <p:cNvSpPr/>
          <p:nvPr/>
        </p:nvSpPr>
        <p:spPr>
          <a:xfrm>
            <a:off x="7315200" y="1188720"/>
            <a:ext cx="2103120" cy="388620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74980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3810" y="1497330"/>
            <a:ext cx="251460" cy="251460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749808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DEM / ROADS</a:t>
            </a:r>
            <a:endParaRPr lang="en-US" sz="1400" dirty="0"/>
          </a:p>
        </p:txBody>
      </p:sp>
      <p:sp>
        <p:nvSpPr>
          <p:cNvPr id="46" name="Text 40"/>
          <p:cNvSpPr txBox="1"/>
          <p:nvPr/>
        </p:nvSpPr>
        <p:spPr>
          <a:xfrm>
            <a:off x="7498080" y="2468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DATASET</a:t>
            </a:r>
            <a:endParaRPr lang="en-US" sz="1000" dirty="0"/>
          </a:p>
        </p:txBody>
      </p:sp>
      <p:sp>
        <p:nvSpPr>
          <p:cNvPr id="47" name="Text 41"/>
          <p:cNvSpPr txBox="1"/>
          <p:nvPr/>
        </p:nvSpPr>
        <p:spPr>
          <a:xfrm>
            <a:off x="7498080" y="26700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[DATASET]</a:t>
            </a:r>
            <a:endParaRPr lang="en-US" sz="1300" dirty="0"/>
          </a:p>
        </p:txBody>
      </p:sp>
      <p:sp>
        <p:nvSpPr>
          <p:cNvPr id="48" name="Text 42"/>
          <p:cNvSpPr txBox="1"/>
          <p:nvPr/>
        </p:nvSpPr>
        <p:spPr>
          <a:xfrm>
            <a:off x="7498080" y="31089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DATE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7498080" y="3310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[DATE]</a:t>
            </a:r>
            <a:endParaRPr lang="en-US" sz="1300" dirty="0"/>
          </a:p>
        </p:txBody>
      </p:sp>
      <p:sp>
        <p:nvSpPr>
          <p:cNvPr id="50" name="Text 44"/>
          <p:cNvSpPr txBox="1"/>
          <p:nvPr/>
        </p:nvSpPr>
        <p:spPr>
          <a:xfrm>
            <a:off x="7498080" y="3749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RESOLUTION</a:t>
            </a:r>
            <a:endParaRPr lang="en-US" sz="1000" dirty="0"/>
          </a:p>
        </p:txBody>
      </p:sp>
      <p:sp>
        <p:nvSpPr>
          <p:cNvPr id="51" name="Text 45"/>
          <p:cNvSpPr txBox="1"/>
          <p:nvPr/>
        </p:nvSpPr>
        <p:spPr>
          <a:xfrm>
            <a:off x="7498080" y="39502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[RESOLUTION]</a:t>
            </a:r>
            <a:endParaRPr lang="en-US" sz="1300" dirty="0"/>
          </a:p>
        </p:txBody>
      </p:sp>
      <p:sp>
        <p:nvSpPr>
          <p:cNvPr id="52" name="Text 46"/>
          <p:cNvSpPr txBox="1"/>
          <p:nvPr/>
        </p:nvSpPr>
        <p:spPr>
          <a:xfrm>
            <a:off x="7498080" y="43891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PURPOSE</a:t>
            </a:r>
            <a:endParaRPr lang="en-US" sz="1000" dirty="0"/>
          </a:p>
        </p:txBody>
      </p:sp>
      <p:sp>
        <p:nvSpPr>
          <p:cNvPr id="53" name="Text 47"/>
          <p:cNvSpPr txBox="1"/>
          <p:nvPr/>
        </p:nvSpPr>
        <p:spPr>
          <a:xfrm>
            <a:off x="7498080" y="4590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[PURPOSE]</a:t>
            </a:r>
            <a:endParaRPr lang="en-US" sz="1300" dirty="0"/>
          </a:p>
        </p:txBody>
      </p:sp>
      <p:sp>
        <p:nvSpPr>
          <p:cNvPr id="54" name="Text 48"/>
          <p:cNvSpPr txBox="1"/>
          <p:nvPr/>
        </p:nvSpPr>
        <p:spPr>
          <a:xfrm>
            <a:off x="941832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55" name="Shape 49"/>
          <p:cNvSpPr/>
          <p:nvPr/>
        </p:nvSpPr>
        <p:spPr>
          <a:xfrm>
            <a:off x="9601200" y="1188720"/>
            <a:ext cx="2103120" cy="388620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97840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9810" y="1497330"/>
            <a:ext cx="251460" cy="251460"/>
          </a:xfrm>
          <a:prstGeom prst="rect">
            <a:avLst/>
          </a:prstGeom>
        </p:spPr>
      </p:pic>
      <p:sp>
        <p:nvSpPr>
          <p:cNvPr id="58" name="Text 51"/>
          <p:cNvSpPr txBox="1"/>
          <p:nvPr/>
        </p:nvSpPr>
        <p:spPr>
          <a:xfrm>
            <a:off x="978408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OTHER DATA</a:t>
            </a:r>
            <a:endParaRPr lang="en-US" sz="1400" dirty="0"/>
          </a:p>
        </p:txBody>
      </p:sp>
      <p:sp>
        <p:nvSpPr>
          <p:cNvPr id="59" name="Text 52"/>
          <p:cNvSpPr txBox="1"/>
          <p:nvPr/>
        </p:nvSpPr>
        <p:spPr>
          <a:xfrm>
            <a:off x="9784080" y="2468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DATASET</a:t>
            </a:r>
            <a:endParaRPr lang="en-US" sz="1000" dirty="0"/>
          </a:p>
        </p:txBody>
      </p:sp>
      <p:sp>
        <p:nvSpPr>
          <p:cNvPr id="60" name="Text 53"/>
          <p:cNvSpPr txBox="1"/>
          <p:nvPr/>
        </p:nvSpPr>
        <p:spPr>
          <a:xfrm>
            <a:off x="9784080" y="26700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[DATASET]</a:t>
            </a:r>
            <a:endParaRPr lang="en-US" sz="1300" dirty="0"/>
          </a:p>
        </p:txBody>
      </p:sp>
      <p:sp>
        <p:nvSpPr>
          <p:cNvPr id="61" name="Text 54"/>
          <p:cNvSpPr txBox="1"/>
          <p:nvPr/>
        </p:nvSpPr>
        <p:spPr>
          <a:xfrm>
            <a:off x="9784080" y="31089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DATE</a:t>
            </a:r>
            <a:endParaRPr lang="en-US" sz="1000" dirty="0"/>
          </a:p>
        </p:txBody>
      </p:sp>
      <p:sp>
        <p:nvSpPr>
          <p:cNvPr id="62" name="Text 55"/>
          <p:cNvSpPr txBox="1"/>
          <p:nvPr/>
        </p:nvSpPr>
        <p:spPr>
          <a:xfrm>
            <a:off x="9784080" y="3310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[DATE]</a:t>
            </a:r>
            <a:endParaRPr lang="en-US" sz="1300" dirty="0"/>
          </a:p>
        </p:txBody>
      </p:sp>
      <p:sp>
        <p:nvSpPr>
          <p:cNvPr id="63" name="Text 56"/>
          <p:cNvSpPr txBox="1"/>
          <p:nvPr/>
        </p:nvSpPr>
        <p:spPr>
          <a:xfrm>
            <a:off x="9784080" y="3749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RESOLUTION</a:t>
            </a:r>
            <a:endParaRPr lang="en-US" sz="1000" dirty="0"/>
          </a:p>
        </p:txBody>
      </p:sp>
      <p:sp>
        <p:nvSpPr>
          <p:cNvPr id="64" name="Text 57"/>
          <p:cNvSpPr txBox="1"/>
          <p:nvPr/>
        </p:nvSpPr>
        <p:spPr>
          <a:xfrm>
            <a:off x="9784080" y="395020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[RESOLUTION]</a:t>
            </a:r>
            <a:endParaRPr lang="en-US" sz="1300" dirty="0"/>
          </a:p>
        </p:txBody>
      </p:sp>
      <p:sp>
        <p:nvSpPr>
          <p:cNvPr id="65" name="Text 58"/>
          <p:cNvSpPr txBox="1"/>
          <p:nvPr/>
        </p:nvSpPr>
        <p:spPr>
          <a:xfrm>
            <a:off x="9784080" y="43891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6"/>
                </a:solidFill>
              </a:rPr>
              <a:t>PURPOSE</a:t>
            </a:r>
            <a:endParaRPr lang="en-US" sz="1000" dirty="0"/>
          </a:p>
        </p:txBody>
      </p:sp>
      <p:sp>
        <p:nvSpPr>
          <p:cNvPr id="66" name="Text 59"/>
          <p:cNvSpPr txBox="1"/>
          <p:nvPr/>
        </p:nvSpPr>
        <p:spPr>
          <a:xfrm>
            <a:off x="9784080" y="4590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[PURPOSE]</a:t>
            </a:r>
            <a:endParaRPr lang="en-US" sz="1300" dirty="0"/>
          </a:p>
        </p:txBody>
      </p:sp>
      <p:sp>
        <p:nvSpPr>
          <p:cNvPr id="67" name="Shape 60"/>
          <p:cNvSpPr/>
          <p:nvPr/>
        </p:nvSpPr>
        <p:spPr>
          <a:xfrm>
            <a:off x="457200" y="5303520"/>
            <a:ext cx="1124712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8" name="Text 61"/>
          <p:cNvSpPr txBox="1"/>
          <p:nvPr/>
        </p:nvSpPr>
        <p:spPr>
          <a:xfrm>
            <a:off x="457200" y="53035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INTEGRATED GEOSPATIAL DATABASE   →   [CRS · EXTENT · FORMAT]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Methodology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463040" cy="429768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737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DATA COLLECTION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92608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Acquire imagery, field and GIS data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023360"/>
            <a:ext cx="1280160" cy="128016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594360" y="40233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[TOOL / PARAMETER]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920240" y="3017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084832" y="1188720"/>
            <a:ext cx="1463040" cy="429768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084832" y="1325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542032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192" y="17373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176272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PREPROCESSING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2194560" y="292608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Correct, clip, resample, align CRS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176272" y="4023360"/>
            <a:ext cx="1280160" cy="128016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19" name="Text 15"/>
          <p:cNvSpPr txBox="1"/>
          <p:nvPr/>
        </p:nvSpPr>
        <p:spPr>
          <a:xfrm>
            <a:off x="2221992" y="40233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[TOOL / PARAMETER]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3547872" y="3017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3712464" y="1188720"/>
            <a:ext cx="1463040" cy="429768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712464" y="1325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169664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73736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3803904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FEATURE EXTRACTION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3822192" y="292608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Derive indices and spatial features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3803904" y="4023360"/>
            <a:ext cx="1280160" cy="128016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28" name="Text 23"/>
          <p:cNvSpPr txBox="1"/>
          <p:nvPr/>
        </p:nvSpPr>
        <p:spPr>
          <a:xfrm>
            <a:off x="3849624" y="40233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[TOOL / PARAMETER]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5175504" y="3017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30" name="Shape 25"/>
          <p:cNvSpPr/>
          <p:nvPr/>
        </p:nvSpPr>
        <p:spPr>
          <a:xfrm>
            <a:off x="5340096" y="1188720"/>
            <a:ext cx="1463040" cy="429768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340096" y="1325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04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5797296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1737360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5431536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SPATIAL ANALYSIS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5449824" y="292608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Overlay, buffer, interpolate, zonal stats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5431536" y="4023360"/>
            <a:ext cx="1280160" cy="128016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37" name="Text 31"/>
          <p:cNvSpPr txBox="1"/>
          <p:nvPr/>
        </p:nvSpPr>
        <p:spPr>
          <a:xfrm>
            <a:off x="5477256" y="40233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[TOOL / PARAMETER]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6803136" y="3017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39" name="Shape 33"/>
          <p:cNvSpPr/>
          <p:nvPr/>
        </p:nvSpPr>
        <p:spPr>
          <a:xfrm>
            <a:off x="6967728" y="1188720"/>
            <a:ext cx="1463040" cy="429768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6967728" y="1325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05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7424928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737360"/>
            <a:ext cx="274320" cy="274320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7059168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AI/ML MODEL</a:t>
            </a:r>
            <a:endParaRPr lang="en-US" sz="1300" dirty="0"/>
          </a:p>
        </p:txBody>
      </p:sp>
      <p:sp>
        <p:nvSpPr>
          <p:cNvPr id="44" name="Text 37"/>
          <p:cNvSpPr txBox="1"/>
          <p:nvPr/>
        </p:nvSpPr>
        <p:spPr>
          <a:xfrm>
            <a:off x="7077456" y="292608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Train and tune the predictive model</a:t>
            </a:r>
            <a:endParaRPr lang="en-US" sz="1200" dirty="0"/>
          </a:p>
        </p:txBody>
      </p:sp>
      <p:sp>
        <p:nvSpPr>
          <p:cNvPr id="45" name="Shape 38"/>
          <p:cNvSpPr/>
          <p:nvPr/>
        </p:nvSpPr>
        <p:spPr>
          <a:xfrm>
            <a:off x="7059168" y="4023360"/>
            <a:ext cx="1280160" cy="128016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46" name="Text 39"/>
          <p:cNvSpPr txBox="1"/>
          <p:nvPr/>
        </p:nvSpPr>
        <p:spPr>
          <a:xfrm>
            <a:off x="7104888" y="40233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[TOOL / PARAMETER]</a:t>
            </a:r>
            <a:endParaRPr lang="en-US" sz="1100" dirty="0"/>
          </a:p>
        </p:txBody>
      </p:sp>
      <p:sp>
        <p:nvSpPr>
          <p:cNvPr id="47" name="Text 40"/>
          <p:cNvSpPr txBox="1"/>
          <p:nvPr/>
        </p:nvSpPr>
        <p:spPr>
          <a:xfrm>
            <a:off x="8430768" y="3017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48" name="Shape 41"/>
          <p:cNvSpPr/>
          <p:nvPr/>
        </p:nvSpPr>
        <p:spPr>
          <a:xfrm>
            <a:off x="8595360" y="1188720"/>
            <a:ext cx="1463040" cy="429768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595360" y="1325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06</a:t>
            </a:r>
            <a:endParaRPr lang="en-US" sz="1100" dirty="0"/>
          </a:p>
        </p:txBody>
      </p:sp>
      <p:sp>
        <p:nvSpPr>
          <p:cNvPr id="50" name="Shape 43"/>
          <p:cNvSpPr/>
          <p:nvPr/>
        </p:nvSpPr>
        <p:spPr>
          <a:xfrm>
            <a:off x="905256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1737360"/>
            <a:ext cx="274320" cy="274320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8686800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VALIDATION</a:t>
            </a:r>
            <a:endParaRPr lang="en-US" sz="1300" dirty="0"/>
          </a:p>
        </p:txBody>
      </p:sp>
      <p:sp>
        <p:nvSpPr>
          <p:cNvPr id="53" name="Text 45"/>
          <p:cNvSpPr txBox="1"/>
          <p:nvPr/>
        </p:nvSpPr>
        <p:spPr>
          <a:xfrm>
            <a:off x="8705088" y="292608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Test against reference data</a:t>
            </a:r>
            <a:endParaRPr lang="en-US" sz="1200" dirty="0"/>
          </a:p>
        </p:txBody>
      </p:sp>
      <p:sp>
        <p:nvSpPr>
          <p:cNvPr id="54" name="Shape 46"/>
          <p:cNvSpPr/>
          <p:nvPr/>
        </p:nvSpPr>
        <p:spPr>
          <a:xfrm>
            <a:off x="8686800" y="4023360"/>
            <a:ext cx="1280160" cy="128016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55" name="Text 47"/>
          <p:cNvSpPr txBox="1"/>
          <p:nvPr/>
        </p:nvSpPr>
        <p:spPr>
          <a:xfrm>
            <a:off x="8732520" y="40233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[TOOL / PARAMETER]</a:t>
            </a:r>
            <a:endParaRPr lang="en-US" sz="1100" dirty="0"/>
          </a:p>
        </p:txBody>
      </p:sp>
      <p:sp>
        <p:nvSpPr>
          <p:cNvPr id="56" name="Text 48"/>
          <p:cNvSpPr txBox="1"/>
          <p:nvPr/>
        </p:nvSpPr>
        <p:spPr>
          <a:xfrm>
            <a:off x="10058400" y="3017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57" name="Shape 49"/>
          <p:cNvSpPr/>
          <p:nvPr/>
        </p:nvSpPr>
        <p:spPr>
          <a:xfrm>
            <a:off x="10222992" y="1188720"/>
            <a:ext cx="1463040" cy="429768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58" name="Text 50"/>
          <p:cNvSpPr txBox="1"/>
          <p:nvPr/>
        </p:nvSpPr>
        <p:spPr>
          <a:xfrm>
            <a:off x="10222992" y="1325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07</a:t>
            </a:r>
            <a:endParaRPr lang="en-US" sz="1100" dirty="0"/>
          </a:p>
        </p:txBody>
      </p:sp>
      <p:sp>
        <p:nvSpPr>
          <p:cNvPr id="59" name="Shape 51"/>
          <p:cNvSpPr/>
          <p:nvPr/>
        </p:nvSpPr>
        <p:spPr>
          <a:xfrm>
            <a:off x="10680192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17352" y="1737360"/>
            <a:ext cx="274320" cy="274320"/>
          </a:xfrm>
          <a:prstGeom prst="rect">
            <a:avLst/>
          </a:prstGeom>
        </p:spPr>
      </p:pic>
      <p:sp>
        <p:nvSpPr>
          <p:cNvPr id="61" name="Text 52"/>
          <p:cNvSpPr txBox="1"/>
          <p:nvPr/>
        </p:nvSpPr>
        <p:spPr>
          <a:xfrm>
            <a:off x="10314432" y="22860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FINAL THEMATIC MAP</a:t>
            </a:r>
            <a:endParaRPr lang="en-US" sz="1300" dirty="0"/>
          </a:p>
        </p:txBody>
      </p:sp>
      <p:sp>
        <p:nvSpPr>
          <p:cNvPr id="62" name="Text 53"/>
          <p:cNvSpPr txBox="1"/>
          <p:nvPr/>
        </p:nvSpPr>
        <p:spPr>
          <a:xfrm>
            <a:off x="10332720" y="2926080"/>
            <a:ext cx="1243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Classified output for decision-makers</a:t>
            </a:r>
            <a:endParaRPr lang="en-US" sz="1200" dirty="0"/>
          </a:p>
        </p:txBody>
      </p:sp>
      <p:sp>
        <p:nvSpPr>
          <p:cNvPr id="63" name="Shape 54"/>
          <p:cNvSpPr/>
          <p:nvPr/>
        </p:nvSpPr>
        <p:spPr>
          <a:xfrm>
            <a:off x="10314432" y="4023360"/>
            <a:ext cx="1280160" cy="128016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64" name="Text 55"/>
          <p:cNvSpPr txBox="1"/>
          <p:nvPr/>
        </p:nvSpPr>
        <p:spPr>
          <a:xfrm>
            <a:off x="10360152" y="40233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[TOOL / PARAMETER]</a:t>
            </a:r>
            <a:endParaRPr lang="en-US" sz="1100" dirty="0"/>
          </a:p>
        </p:txBody>
      </p:sp>
      <p:sp>
        <p:nvSpPr>
          <p:cNvPr id="65" name="Shape 56"/>
          <p:cNvSpPr/>
          <p:nvPr/>
        </p:nvSpPr>
        <p:spPr>
          <a:xfrm>
            <a:off x="457200" y="5669280"/>
            <a:ext cx="1124712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66" name="Text 57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[SOFTWARE / TOOLS:  QGIS · GEE · Python · …]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Feature &amp; Analysis Design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286000" cy="237744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973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Spectral indices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78892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31520" y="2788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[VARIABLE 1]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29184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731520" y="3291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[VARIABLE 2]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926080" y="1188720"/>
            <a:ext cx="2286000" cy="237744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0896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690" y="149733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10896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Environmental variables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108960" y="278892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16" name="Text 12"/>
          <p:cNvSpPr txBox="1"/>
          <p:nvPr/>
        </p:nvSpPr>
        <p:spPr>
          <a:xfrm>
            <a:off x="3200400" y="2788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[VARIABLE 1]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108960" y="329184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18" name="Text 14"/>
          <p:cNvSpPr txBox="1"/>
          <p:nvPr/>
        </p:nvSpPr>
        <p:spPr>
          <a:xfrm>
            <a:off x="3200400" y="3291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[VARIABLE 2]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394960" y="1188720"/>
            <a:ext cx="2286000" cy="237744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57784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570" y="1497330"/>
            <a:ext cx="251460" cy="2514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57784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Terrain variables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577840" y="278892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24" name="Text 19"/>
          <p:cNvSpPr txBox="1"/>
          <p:nvPr/>
        </p:nvSpPr>
        <p:spPr>
          <a:xfrm>
            <a:off x="5669280" y="2788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[VARIABLE 1]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577840" y="329184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26" name="Text 21"/>
          <p:cNvSpPr txBox="1"/>
          <p:nvPr/>
        </p:nvSpPr>
        <p:spPr>
          <a:xfrm>
            <a:off x="5669280" y="3291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[VARIABLE 2]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57200" y="3749040"/>
            <a:ext cx="2286000" cy="237744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4057650"/>
            <a:ext cx="251460" cy="25146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40080" y="4617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Spatial variables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640080" y="534924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32" name="Text 26"/>
          <p:cNvSpPr txBox="1"/>
          <p:nvPr/>
        </p:nvSpPr>
        <p:spPr>
          <a:xfrm>
            <a:off x="731520" y="5349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[VARIABLE 1]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640080" y="585216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34" name="Text 28"/>
          <p:cNvSpPr txBox="1"/>
          <p:nvPr/>
        </p:nvSpPr>
        <p:spPr>
          <a:xfrm>
            <a:off x="731520" y="5852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[VARIABLE 2]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2926080" y="3749040"/>
            <a:ext cx="2286000" cy="237744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3108960" y="3931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4690" y="4057650"/>
            <a:ext cx="251460" cy="25146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3108960" y="4617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Field observations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3108960" y="534924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40" name="Text 33"/>
          <p:cNvSpPr txBox="1"/>
          <p:nvPr/>
        </p:nvSpPr>
        <p:spPr>
          <a:xfrm>
            <a:off x="3200400" y="5349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[VARIABLE 1]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3108960" y="585216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42" name="Text 35"/>
          <p:cNvSpPr txBox="1"/>
          <p:nvPr/>
        </p:nvSpPr>
        <p:spPr>
          <a:xfrm>
            <a:off x="3200400" y="5852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[VARIABLE 2]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5394960" y="3749040"/>
            <a:ext cx="2286000" cy="237744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5577840" y="3931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3570" y="4057650"/>
            <a:ext cx="251460" cy="251460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5577840" y="4617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Derived features</a:t>
            </a:r>
            <a:endParaRPr lang="en-US" sz="1400" dirty="0"/>
          </a:p>
        </p:txBody>
      </p:sp>
      <p:sp>
        <p:nvSpPr>
          <p:cNvPr id="47" name="Shape 39"/>
          <p:cNvSpPr/>
          <p:nvPr/>
        </p:nvSpPr>
        <p:spPr>
          <a:xfrm>
            <a:off x="5577840" y="534924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48" name="Text 40"/>
          <p:cNvSpPr txBox="1"/>
          <p:nvPr/>
        </p:nvSpPr>
        <p:spPr>
          <a:xfrm>
            <a:off x="5669280" y="53492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[VARIABLE 1]</a:t>
            </a:r>
            <a:endParaRPr lang="en-US" sz="1200" dirty="0"/>
          </a:p>
        </p:txBody>
      </p:sp>
      <p:sp>
        <p:nvSpPr>
          <p:cNvPr id="49" name="Shape 41"/>
          <p:cNvSpPr/>
          <p:nvPr/>
        </p:nvSpPr>
        <p:spPr>
          <a:xfrm>
            <a:off x="5577840" y="5852160"/>
            <a:ext cx="1920240" cy="384048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dash"/>
          </a:ln>
        </p:spPr>
      </p:sp>
      <p:sp>
        <p:nvSpPr>
          <p:cNvPr id="50" name="Text 42"/>
          <p:cNvSpPr txBox="1"/>
          <p:nvPr/>
        </p:nvSpPr>
        <p:spPr>
          <a:xfrm>
            <a:off x="5669280" y="5852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[VARIABLE 2]</a:t>
            </a:r>
            <a:endParaRPr lang="en-US" sz="1200" dirty="0"/>
          </a:p>
        </p:txBody>
      </p:sp>
      <p:sp>
        <p:nvSpPr>
          <p:cNvPr id="51" name="Shape 43"/>
          <p:cNvSpPr/>
          <p:nvPr/>
        </p:nvSpPr>
        <p:spPr>
          <a:xfrm>
            <a:off x="7863840" y="1188720"/>
            <a:ext cx="3867912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809244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FORMULA CARD · SPECTRAL INDEX</a:t>
            </a:r>
            <a:endParaRPr lang="en-US" sz="1100" dirty="0"/>
          </a:p>
        </p:txBody>
      </p:sp>
      <p:sp>
        <p:nvSpPr>
          <p:cNvPr id="53" name="Text 45"/>
          <p:cNvSpPr txBox="1"/>
          <p:nvPr/>
        </p:nvSpPr>
        <p:spPr>
          <a:xfrm>
            <a:off x="8092440" y="169164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[INDEX] = ([BAND A] − [BAND B]) / ([BAND A] + [BAND B])</a:t>
            </a:r>
            <a:endParaRPr lang="en-US" sz="1600" dirty="0"/>
          </a:p>
        </p:txBody>
      </p:sp>
      <p:sp>
        <p:nvSpPr>
          <p:cNvPr id="54" name="Shape 46"/>
          <p:cNvSpPr/>
          <p:nvPr/>
        </p:nvSpPr>
        <p:spPr>
          <a:xfrm>
            <a:off x="7863840" y="3749040"/>
            <a:ext cx="3867912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8092440" y="3886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FEATURE CARD · DERIVED FEATURE</a:t>
            </a:r>
            <a:endParaRPr lang="en-US" sz="1100" dirty="0"/>
          </a:p>
        </p:txBody>
      </p:sp>
      <p:sp>
        <p:nvSpPr>
          <p:cNvPr id="56" name="Text 48"/>
          <p:cNvSpPr txBox="1"/>
          <p:nvPr/>
        </p:nvSpPr>
        <p:spPr>
          <a:xfrm>
            <a:off x="8092440" y="42519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[FEATURE] = f([VAR 1], [VAR 2], …)</a:t>
            </a:r>
            <a:endParaRPr lang="en-US" sz="1600" dirty="0"/>
          </a:p>
        </p:txBody>
      </p:sp>
      <p:sp>
        <p:nvSpPr>
          <p:cNvPr id="57" name="Text 49"/>
          <p:cNvSpPr txBox="1"/>
          <p:nvPr/>
        </p:nvSpPr>
        <p:spPr>
          <a:xfrm>
            <a:off x="8092440" y="5440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Feature stack: [N] layers · [CRS] · [RESOLUTION]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AI/ML Approach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0317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98448"/>
            <a:ext cx="2320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INPUT FEATURES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23202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[FEATURE STACK]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960370" y="1188720"/>
            <a:ext cx="411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371850" y="1188720"/>
            <a:ext cx="250317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63290" y="1298448"/>
            <a:ext cx="2320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MODEL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63290" y="1737360"/>
            <a:ext cx="23202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[ALGORITHM]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75020" y="1188720"/>
            <a:ext cx="411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86500" y="1188720"/>
            <a:ext cx="250317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77940" y="1298448"/>
            <a:ext cx="2320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PREDICTION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77940" y="1737360"/>
            <a:ext cx="23202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[CLASS / VALUE]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789670" y="1188720"/>
            <a:ext cx="411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201150" y="1188720"/>
            <a:ext cx="250317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92590" y="1298448"/>
            <a:ext cx="2320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SPATIAL OUTPUT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292590" y="1737360"/>
            <a:ext cx="232029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[RASTER / THEMATIC MAP]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5120640" cy="3474720"/>
          </a:xfrm>
          <a:prstGeom prst="roundRect">
            <a:avLst>
              <a:gd name="adj" fmla="val 2105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2788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MODEL SETUP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Model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60604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[MODEL]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675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Training data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606040" y="3675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[TRAINING DATA]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2428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Features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606040" y="42428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[FEATURES]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8097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Train / test split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606040" y="480974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[TRAIN/TEST SPLIT]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376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Parameters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606040" y="53766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[PARAMETERS]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852160" y="26974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6"/>
                </a:solidFill>
              </a:rPr>
              <a:t>MODEL PERFORMANCE · KEEP ONLY RELEVANT METRICS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52160" y="306324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035040" y="3200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ACCURACY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035040" y="35204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[0.00]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863840" y="306324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46720" y="3200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3"/>
                </a:solidFill>
              </a:rPr>
              <a:t>PRECISION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046720" y="35204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[0.00]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9875520" y="306324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058400" y="3200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2"/>
                </a:solidFill>
              </a:rPr>
              <a:t>RECALL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058400" y="35204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[0.00]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5852160" y="466344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035040" y="4800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4"/>
                </a:solidFill>
              </a:rPr>
              <a:t>F1-SCORE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035040" y="51206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[0.00]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7863840" y="466344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046720" y="4800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5"/>
                </a:solidFill>
              </a:rPr>
              <a:t>RMSE / MAE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046720" y="51206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[0.00]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9875520" y="466344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058400" y="4800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AUC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058400" y="51206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[0.00]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Main Thematic Map &amp; Results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4983480"/>
          </a:xfrm>
          <a:prstGeom prst="rect">
            <a:avLst>
              <a:gd name="adj" fmla="val 146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1188720"/>
            <a:ext cx="0" cy="49834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93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1188720"/>
            <a:ext cx="0" cy="49834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84988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188720"/>
            <a:ext cx="0" cy="49834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68046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1188720"/>
            <a:ext cx="0" cy="49834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451104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1188720"/>
            <a:ext cx="0" cy="498348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534162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63040" y="12344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[LON °E]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12344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[LON °E]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12344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[LON °E]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19278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[LAT °N]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5890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[LAT °N]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2501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[LAT °N]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325880" y="1645920"/>
            <a:ext cx="274320" cy="365760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325880" y="20299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5669280"/>
            <a:ext cx="731520" cy="91440"/>
          </a:xfrm>
          <a:prstGeom prst="rect">
            <a:avLst>
              <a:gd name="adj" fmla="val 80000"/>
            </a:avLst>
          </a:prstGeom>
          <a:solidFill>
            <a:schemeClr val="tx1"/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5669280"/>
            <a:ext cx="731520" cy="91440"/>
          </a:xfrm>
          <a:prstGeom prst="rect">
            <a:avLst>
              <a:gd name="adj" fmla="val 80000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579729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0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579729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[X]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0" y="579729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[2X] km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280160" y="1886407"/>
            <a:ext cx="6583680" cy="3588106"/>
          </a:xfrm>
          <a:prstGeom prst="rect">
            <a:avLst>
              <a:gd name="adj" fmla="val 2039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ysDash"/>
          </a:ln>
        </p:spPr>
      </p:sp>
      <p:sp>
        <p:nvSpPr>
          <p:cNvPr id="28" name="Text 26"/>
          <p:cNvSpPr txBox="1"/>
          <p:nvPr/>
        </p:nvSpPr>
        <p:spPr>
          <a:xfrm>
            <a:off x="1371600" y="1932127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[ADMIN BOUNDARY]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938528" y="2384755"/>
            <a:ext cx="5266944" cy="2591410"/>
          </a:xfrm>
          <a:prstGeom prst="rect">
            <a:avLst>
              <a:gd name="adj" fmla="val 2823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2029968" y="2430475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</a:rPr>
              <a:t>[STUDY AREA]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4975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[THEMATIC MAP · insert classified output]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675120" y="1508760"/>
            <a:ext cx="182880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766560" y="1581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INSET · [LOCATION MAP]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06640" y="2064258"/>
            <a:ext cx="457200" cy="308610"/>
          </a:xfrm>
          <a:prstGeom prst="rect">
            <a:avLst>
              <a:gd name="adj" fmla="val 23704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75120" y="2471623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[REGION / COUNTRY]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25880" y="3794760"/>
            <a:ext cx="228600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463040" y="38862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tx1"/>
                </a:solidFill>
              </a:rPr>
              <a:t>THEMATIC CLASSES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463040" y="4160520"/>
            <a:ext cx="201168" cy="164592"/>
          </a:xfrm>
          <a:prstGeom prst="rect">
            <a:avLst>
              <a:gd name="adj" fmla="val 44444"/>
            </a:avLst>
          </a:prstGeom>
          <a:solidFill>
            <a:schemeClr val="accent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755648" y="41422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[CLASS 1]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463040" y="4434840"/>
            <a:ext cx="201168" cy="164592"/>
          </a:xfrm>
          <a:prstGeom prst="rect">
            <a:avLst>
              <a:gd name="adj" fmla="val 44444"/>
            </a:avLst>
          </a:prstGeom>
          <a:solidFill>
            <a:schemeClr val="accent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755648" y="4416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[CLASS 2]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463040" y="4709160"/>
            <a:ext cx="201168" cy="164592"/>
          </a:xfrm>
          <a:prstGeom prst="rect">
            <a:avLst>
              <a:gd name="adj" fmla="val 44444"/>
            </a:avLst>
          </a:prstGeom>
          <a:solidFill>
            <a:schemeClr val="accent5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755648" y="46908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[CLASS 3]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463040" y="4983480"/>
            <a:ext cx="201168" cy="164592"/>
          </a:xfrm>
          <a:prstGeom prst="rect">
            <a:avLst>
              <a:gd name="adj" fmla="val 44444"/>
            </a:avLst>
          </a:prstGeom>
          <a:solidFill>
            <a:schemeClr val="accent1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755648" y="4965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[CLASS 4]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463040" y="5257800"/>
            <a:ext cx="201168" cy="164592"/>
          </a:xfrm>
          <a:prstGeom prst="rect">
            <a:avLst>
              <a:gd name="adj" fmla="val 44444"/>
            </a:avLst>
          </a:prstGeom>
          <a:solidFill>
            <a:schemeClr val="accent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755648" y="52395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[CLASS 5]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359152" y="2752344"/>
            <a:ext cx="146304" cy="14630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9" name="Shape 47"/>
          <p:cNvSpPr/>
          <p:nvPr/>
        </p:nvSpPr>
        <p:spPr>
          <a:xfrm>
            <a:off x="2468880" y="2606040"/>
            <a:ext cx="173736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560320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[KEY ANNOTATION 1]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285232" y="4489704"/>
            <a:ext cx="146304" cy="14630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2" name="Shape 50"/>
          <p:cNvSpPr/>
          <p:nvPr/>
        </p:nvSpPr>
        <p:spPr>
          <a:xfrm>
            <a:off x="5394960" y="4343400"/>
            <a:ext cx="173736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486400" y="4343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[KEY ANNOTATION 2]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869680" y="1188720"/>
            <a:ext cx="2862072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052560" y="132588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KEY RESULT 1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9052560" y="1645920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[KEY RESULT 1]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8869680" y="2926080"/>
            <a:ext cx="2862072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052560" y="306324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2"/>
                </a:solidFill>
              </a:rPr>
              <a:t>KEY RESULT 2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9052560" y="3383280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[KEY RESULT 2]</a:t>
            </a:r>
            <a:endParaRPr lang="en-US" sz="2000" dirty="0"/>
          </a:p>
        </p:txBody>
      </p:sp>
      <p:sp>
        <p:nvSpPr>
          <p:cNvPr id="60" name="Shape 58"/>
          <p:cNvSpPr/>
          <p:nvPr/>
        </p:nvSpPr>
        <p:spPr>
          <a:xfrm>
            <a:off x="8869680" y="4663440"/>
            <a:ext cx="2862072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052560" y="480060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3"/>
                </a:solidFill>
              </a:rPr>
              <a:t>KEY RESULT 3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9052560" y="5120640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[KEY RESULT 3]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Validation &amp; Accuracy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265176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984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CONFUSION MATRIX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3619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rows: reference · columns: predicted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[CLASS 1]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385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[CLASS 1]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249424" y="19385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[CLASS 2]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127248" y="19385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[CLASS 3]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0" y="2148840"/>
            <a:ext cx="822960" cy="502920"/>
          </a:xfrm>
          <a:prstGeom prst="rect">
            <a:avLst>
              <a:gd name="adj" fmla="val 14545"/>
            </a:avLst>
          </a:prstGeom>
          <a:solidFill>
            <a:schemeClr val="accent1">
              <a:alpha val="45000"/>
            </a:schemeClr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0" y="2148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[ n 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49424" y="2148840"/>
            <a:ext cx="822960" cy="502920"/>
          </a:xfrm>
          <a:prstGeom prst="rect">
            <a:avLst>
              <a:gd name="adj" fmla="val 14545"/>
            </a:avLst>
          </a:prstGeom>
          <a:solidFill>
            <a:schemeClr val="tx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49424" y="2148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[ n 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27248" y="2148840"/>
            <a:ext cx="822960" cy="502920"/>
          </a:xfrm>
          <a:prstGeom prst="rect">
            <a:avLst>
              <a:gd name="adj" fmla="val 14545"/>
            </a:avLst>
          </a:prstGeom>
          <a:solidFill>
            <a:schemeClr val="tx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27248" y="2148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[ n ]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8437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[CLASS 2]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71600" y="2706624"/>
            <a:ext cx="822960" cy="502920"/>
          </a:xfrm>
          <a:prstGeom prst="rect">
            <a:avLst>
              <a:gd name="adj" fmla="val 14545"/>
            </a:avLst>
          </a:prstGeom>
          <a:solidFill>
            <a:schemeClr val="tx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71600" y="270662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[ n 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49424" y="2706624"/>
            <a:ext cx="822960" cy="502920"/>
          </a:xfrm>
          <a:prstGeom prst="rect">
            <a:avLst>
              <a:gd name="adj" fmla="val 14545"/>
            </a:avLst>
          </a:prstGeom>
          <a:solidFill>
            <a:schemeClr val="accent1">
              <a:alpha val="45000"/>
            </a:schemeClr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49424" y="270662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[ n 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27248" y="2706624"/>
            <a:ext cx="822960" cy="502920"/>
          </a:xfrm>
          <a:prstGeom prst="rect">
            <a:avLst>
              <a:gd name="adj" fmla="val 14545"/>
            </a:avLst>
          </a:prstGeom>
          <a:solidFill>
            <a:schemeClr val="tx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27248" y="270662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[ n ]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4015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[CLASS 3]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0" y="3264408"/>
            <a:ext cx="822960" cy="502920"/>
          </a:xfrm>
          <a:prstGeom prst="rect">
            <a:avLst>
              <a:gd name="adj" fmla="val 14545"/>
            </a:avLst>
          </a:prstGeom>
          <a:solidFill>
            <a:schemeClr val="tx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371600" y="326440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[ n 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49424" y="3264408"/>
            <a:ext cx="822960" cy="502920"/>
          </a:xfrm>
          <a:prstGeom prst="rect">
            <a:avLst>
              <a:gd name="adj" fmla="val 14545"/>
            </a:avLst>
          </a:prstGeom>
          <a:solidFill>
            <a:schemeClr val="tx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49424" y="326440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[ n 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27248" y="3264408"/>
            <a:ext cx="822960" cy="502920"/>
          </a:xfrm>
          <a:prstGeom prst="rect">
            <a:avLst>
              <a:gd name="adj" fmla="val 14545"/>
            </a:avLst>
          </a:prstGeom>
          <a:solidFill>
            <a:schemeClr val="accent1">
              <a:alpha val="45000"/>
            </a:schemeClr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127248" y="326440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[ n ]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80560" y="1188720"/>
            <a:ext cx="374904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63440" y="12984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tx1"/>
                </a:solidFill>
              </a:rPr>
              <a:t>ACCURACY / PERFORMANCE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1645920"/>
            <a:ext cx="0" cy="18288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474720"/>
            <a:ext cx="31089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20640" y="2779776"/>
            <a:ext cx="502920" cy="694944"/>
          </a:xfrm>
          <a:prstGeom prst="rect">
            <a:avLst>
              <a:gd name="adj" fmla="val 14545"/>
            </a:avLst>
          </a:prstGeom>
          <a:solidFill>
            <a:srgbClr val="CBD5E1"/>
          </a:solidFill>
          <a:ln/>
        </p:spPr>
      </p:sp>
      <p:sp>
        <p:nvSpPr>
          <p:cNvPr id="35" name="Shape 33"/>
          <p:cNvSpPr/>
          <p:nvPr/>
        </p:nvSpPr>
        <p:spPr>
          <a:xfrm>
            <a:off x="5806440" y="2345436"/>
            <a:ext cx="502920" cy="1129284"/>
          </a:xfrm>
          <a:prstGeom prst="rect">
            <a:avLst>
              <a:gd name="adj" fmla="val 14545"/>
            </a:avLst>
          </a:prstGeom>
          <a:solidFill>
            <a:srgbClr val="CBD5E1"/>
          </a:solidFill>
          <a:ln/>
        </p:spPr>
      </p:sp>
      <p:sp>
        <p:nvSpPr>
          <p:cNvPr id="36" name="Shape 34"/>
          <p:cNvSpPr/>
          <p:nvPr/>
        </p:nvSpPr>
        <p:spPr>
          <a:xfrm>
            <a:off x="6492240" y="2606040"/>
            <a:ext cx="502920" cy="868680"/>
          </a:xfrm>
          <a:prstGeom prst="rect">
            <a:avLst>
              <a:gd name="adj" fmla="val 14545"/>
            </a:avLst>
          </a:prstGeom>
          <a:solidFill>
            <a:srgbClr val="CBD5E1"/>
          </a:solidFill>
          <a:ln/>
        </p:spPr>
      </p:sp>
      <p:sp>
        <p:nvSpPr>
          <p:cNvPr id="37" name="Shape 35"/>
          <p:cNvSpPr/>
          <p:nvPr/>
        </p:nvSpPr>
        <p:spPr>
          <a:xfrm>
            <a:off x="7178040" y="2084832"/>
            <a:ext cx="502920" cy="1389888"/>
          </a:xfrm>
          <a:prstGeom prst="rect">
            <a:avLst>
              <a:gd name="adj" fmla="val 14545"/>
            </a:avLst>
          </a:prstGeom>
          <a:solidFill>
            <a:srgbClr val="CBD5E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480560" y="3520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[CHART PLACEHOLDER]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412480" y="1188720"/>
            <a:ext cx="3319272" cy="265176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4108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5380" y="1485900"/>
            <a:ext cx="228600" cy="228600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918972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FIELD VALIDATION POINTS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864108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Points collected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0" y="21031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[N]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8641080" y="26700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Points matched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10515600" y="26700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[N]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8641080" y="32369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Independent test set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10515600" y="323697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[N]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457200" y="4023360"/>
            <a:ext cx="3108960" cy="2103120"/>
          </a:xfrm>
          <a:prstGeom prst="rect">
            <a:avLst>
              <a:gd name="adj" fmla="val 347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57200" y="4892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REFERENCE DATA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3611880" y="4023360"/>
            <a:ext cx="548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↔</a:t>
            </a:r>
            <a:endParaRPr lang="en-US" sz="2800" dirty="0"/>
          </a:p>
        </p:txBody>
      </p:sp>
      <p:sp>
        <p:nvSpPr>
          <p:cNvPr id="52" name="Shape 49"/>
          <p:cNvSpPr/>
          <p:nvPr/>
        </p:nvSpPr>
        <p:spPr>
          <a:xfrm>
            <a:off x="4206240" y="4023360"/>
            <a:ext cx="3108960" cy="2103120"/>
          </a:xfrm>
          <a:prstGeom prst="rect">
            <a:avLst>
              <a:gd name="adj" fmla="val 347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206240" y="4892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MODEL OUTPUT</a:t>
            </a: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7498080" y="4023360"/>
            <a:ext cx="4233672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7726680" y="4133088"/>
            <a:ext cx="3776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3"/>
                </a:solidFill>
              </a:rPr>
              <a:t>VALIDATION RESULT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7726680" y="4407408"/>
            <a:ext cx="377647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[VALIDATION RESULT]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[INDEPENDENT VALIDATION SUMMARY]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Key Findings &amp; Impact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97480" cy="25603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56591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94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FINDING 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[KEY FINDING]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63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[SUPPORTING METRIC / MAP EVIDENCE]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10128" y="1188720"/>
            <a:ext cx="2697480" cy="25603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38728" y="141732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318" y="156591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38728" y="2194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FINDING 2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3538728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[KEY FINDING]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538728" y="3063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[SUPPORTING METRIC / MAP EVIDENCE]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63056" y="1188720"/>
            <a:ext cx="2697480" cy="25603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91656" y="141732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246" y="156591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91656" y="2194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FINDING 3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6391656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[KEY FINDING]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391656" y="3063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[SUPPORTING METRIC / MAP EVIDENCE]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015984" y="1188720"/>
            <a:ext cx="2697480" cy="25603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244584" y="141732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3174" y="1565910"/>
            <a:ext cx="297180" cy="2971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44584" y="2194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FINDING 4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9244584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[KEY FINDING]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9244584" y="3063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[SUPPORTING METRIC / MAP EVIDENCE]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57200" y="3977640"/>
            <a:ext cx="347472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48640" y="4087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GIS/AI SOLUTION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4526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[WHAT WAS BUILT]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3931920" y="397764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→</a:t>
            </a:r>
            <a:endParaRPr lang="en-US" sz="2400" dirty="0"/>
          </a:p>
        </p:txBody>
      </p:sp>
      <p:sp>
        <p:nvSpPr>
          <p:cNvPr id="31" name="Shape 25"/>
          <p:cNvSpPr/>
          <p:nvPr/>
        </p:nvSpPr>
        <p:spPr>
          <a:xfrm>
            <a:off x="4343400" y="3977640"/>
            <a:ext cx="347472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4434840" y="4087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DECISION SUPPORT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4434840" y="4526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[WHO USES IT · HOW]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7818120" y="3977640"/>
            <a:ext cx="411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→</a:t>
            </a:r>
            <a:endParaRPr lang="en-US" sz="2400" dirty="0"/>
          </a:p>
        </p:txBody>
      </p:sp>
      <p:sp>
        <p:nvSpPr>
          <p:cNvPr id="35" name="Shape 29"/>
          <p:cNvSpPr/>
          <p:nvPr/>
        </p:nvSpPr>
        <p:spPr>
          <a:xfrm>
            <a:off x="8229600" y="3977640"/>
            <a:ext cx="347472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8321040" y="4087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REAL-WORLD IMPACT</a:t>
            </a:r>
            <a:endParaRPr lang="en-US" sz="1400" dirty="0"/>
          </a:p>
        </p:txBody>
      </p:sp>
      <p:sp>
        <p:nvSpPr>
          <p:cNvPr id="37" name="Text 31"/>
          <p:cNvSpPr txBox="1"/>
          <p:nvPr/>
        </p:nvSpPr>
        <p:spPr>
          <a:xfrm>
            <a:off x="8321040" y="4526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[OUTCOME]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57200" y="5303520"/>
            <a:ext cx="1124712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85800" y="541324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PRACTICAL APPLICATION</a:t>
            </a:r>
            <a:endParaRPr lang="en-US" sz="1100" dirty="0"/>
          </a:p>
        </p:txBody>
      </p:sp>
      <p:sp>
        <p:nvSpPr>
          <p:cNvPr id="40" name="Text 34"/>
          <p:cNvSpPr txBox="1"/>
          <p:nvPr/>
        </p:nvSpPr>
        <p:spPr>
          <a:xfrm>
            <a:off x="685800" y="568756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[PRACTICAL APPLICATION]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Limitations &amp; Future Work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532120" cy="4937760"/>
          </a:xfrm>
          <a:prstGeom prst="roundRect">
            <a:avLst>
              <a:gd name="adj" fmla="val 1481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54305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173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CURRENT LIMITATIONS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2286000"/>
            <a:ext cx="498348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258775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[LIMITATION 1]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880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[IMPACT ON RESULTS]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3502152"/>
            <a:ext cx="498348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380390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6850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[LIMITATION 2]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600200" y="40965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[IMPACT ON RESULTS]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" y="4718304"/>
            <a:ext cx="498348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4400" y="502005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14400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600200" y="49011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[LIMITATION 3]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600200" y="53126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[IMPACT ON RESULTS]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172200" y="1188720"/>
            <a:ext cx="5532120" cy="4937760"/>
          </a:xfrm>
          <a:prstGeom prst="roundRect">
            <a:avLst>
              <a:gd name="adj" fmla="val 1481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46520" y="14173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1543050"/>
            <a:ext cx="251460" cy="25146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132320" y="14173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FUTURE IMPROVEMENTS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6446520" y="2286000"/>
            <a:ext cx="498348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629400" y="2587752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62940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731520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[IMPROVEMENT 1]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7315200" y="2880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[PLANNED APPROACH]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446520" y="3502152"/>
            <a:ext cx="498348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629400" y="3803904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662940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34" name="Text 30"/>
          <p:cNvSpPr txBox="1"/>
          <p:nvPr/>
        </p:nvSpPr>
        <p:spPr>
          <a:xfrm>
            <a:off x="7315200" y="36850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[IMPROVEMENT 2]</a:t>
            </a:r>
            <a:endParaRPr lang="en-US" sz="1800" dirty="0"/>
          </a:p>
        </p:txBody>
      </p:sp>
      <p:sp>
        <p:nvSpPr>
          <p:cNvPr id="35" name="Text 31"/>
          <p:cNvSpPr txBox="1"/>
          <p:nvPr/>
        </p:nvSpPr>
        <p:spPr>
          <a:xfrm>
            <a:off x="7315200" y="40965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[PLANNED APPROACH]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6446520" y="4718304"/>
            <a:ext cx="498348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629400" y="5020056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6629400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39" name="Text 35"/>
          <p:cNvSpPr txBox="1"/>
          <p:nvPr/>
        </p:nvSpPr>
        <p:spPr>
          <a:xfrm>
            <a:off x="7315200" y="49011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[IMPROVEMENT 3]</a:t>
            </a:r>
            <a:endParaRPr lang="en-US" sz="1800" dirty="0"/>
          </a:p>
        </p:txBody>
      </p:sp>
      <p:sp>
        <p:nvSpPr>
          <p:cNvPr id="40" name="Text 36"/>
          <p:cNvSpPr txBox="1"/>
          <p:nvPr/>
        </p:nvSpPr>
        <p:spPr>
          <a:xfrm>
            <a:off x="7315200" y="53126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[PLANNED APPROACH]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Final Solution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[ONE-SENTENCE SOLUTION]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697480"/>
            <a:ext cx="685800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290322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26974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[KEY ACHIEVEMENT 1]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3429000"/>
            <a:ext cx="685800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363474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34290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[KEY ACHIEVEMENT 2]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57200" y="4160520"/>
            <a:ext cx="685800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436626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41605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[KEY ACHIEVEMENT 3]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457200" y="4937760"/>
            <a:ext cx="68580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85800" y="50474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PRACTICAL IMPACT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5321808"/>
            <a:ext cx="6400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[PRACTICAL IMPACT]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589520" y="1188720"/>
            <a:ext cx="4142232" cy="2377440"/>
          </a:xfrm>
          <a:prstGeom prst="rect">
            <a:avLst>
              <a:gd name="adj" fmla="val 3077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589520" y="2194560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[FINAL MAP THUMBNAIL]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7589520" y="370332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772400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2"/>
                </a:solidFill>
              </a:rPr>
              <a:t>MAIN METRIC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7772400" y="4160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[VALUE]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9720072" y="370332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9525">
            <a:solidFill>
              <a:srgbClr val="22304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902952" y="3822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CONTACT / QR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9902952" y="4114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[QR CODE]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DATA  →  INTELLIGENCE  →  SPATIAL DECISION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8595360" y="6400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[CONTACT · EMAIL · LINK]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Intel">
  <a:themeElements>
    <a:clrScheme name="GeoIntel">
      <a:dk1>
        <a:srgbClr val="0B1220"/>
      </a:dk1>
      <a:lt1>
        <a:srgbClr val="FFFFFF"/>
      </a:lt1>
      <a:dk2>
        <a:srgbClr val="131D31"/>
      </a:dk2>
      <a:lt2>
        <a:srgbClr val="EAF0F5"/>
      </a:lt2>
      <a:accent1>
        <a:srgbClr val="22D3EE"/>
      </a:accent1>
      <a:accent2>
        <a:srgbClr val="F59E0B"/>
      </a:accent2>
      <a:accent3>
        <a:srgbClr val="34D399"/>
      </a:accent3>
      <a:accent4>
        <a:srgbClr val="A78BFA"/>
      </a:accent4>
      <a:accent5>
        <a:srgbClr val="F87171"/>
      </a:accent5>
      <a:accent6>
        <a:srgbClr val="94A3B8"/>
      </a:accent6>
      <a:hlink>
        <a:srgbClr val="22D3EE"/>
      </a:hlink>
      <a:folHlink>
        <a:srgbClr val="A78BFA"/>
      </a:folHlink>
    </a:clrScheme>
    <a:fontScheme name="GeoInte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2026-10-05T02:01:35Z</dcterms:created>
  <dcterms:modified xsi:type="dcterms:W3CDTF">2026-10-05T02:01:35Z</dcterms:modified>
</cp:coreProperties>
</file>